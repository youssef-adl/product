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69" r:id="rId6"/>
    <p:sldId id="259" r:id="rId7"/>
    <p:sldId id="266" r:id="rId8"/>
    <p:sldId id="261" r:id="rId9"/>
    <p:sldId id="262" r:id="rId10"/>
    <p:sldId id="263" r:id="rId11"/>
    <p:sldId id="268" r:id="rId12"/>
    <p:sldId id="267" r:id="rId13"/>
    <p:sldId id="264" r:id="rId14"/>
    <p:sldId id="265" r:id="rId15"/>
  </p:sldIdLst>
  <p:sldSz cx="18288000" cy="10287000"/>
  <p:notesSz cx="6858000" cy="9144000"/>
  <p:embeddedFontLst>
    <p:embeddedFont>
      <p:font typeface="Arial Black" panose="020B0A04020102020204" pitchFamily="34" charset="0"/>
      <p:bold r:id="rId16"/>
    </p:embeddedFont>
    <p:embeddedFont>
      <p:font typeface="Bahnschrift" panose="020B0502040204020203" pitchFamily="34" charset="0"/>
      <p:regular r:id="rId17"/>
      <p:bold r:id="rId18"/>
    </p:embeddedFont>
    <p:embeddedFont>
      <p:font typeface="Berlin Sans FB Demi" panose="020E0802020502020306" pitchFamily="34" charset="0"/>
      <p:bold r:id="rId19"/>
    </p:embeddedFont>
    <p:embeddedFont>
      <p:font typeface="Bookman Old Style" panose="02050604050505020204" pitchFamily="18" charset="0"/>
      <p:regular r:id="rId20"/>
      <p:bold r:id="rId21"/>
      <p:italic r:id="rId22"/>
      <p:boldItalic r:id="rId23"/>
    </p:embeddedFont>
    <p:embeddedFont>
      <p:font typeface="Californian FB" panose="0207040306080B030204" pitchFamily="18" charset="0"/>
      <p:regular r:id="rId24"/>
      <p:bold r:id="rId25"/>
      <p:italic r:id="rId26"/>
    </p:embeddedFont>
    <p:embeddedFont>
      <p:font typeface="Cascadia Code" panose="020B0609020000020004" pitchFamily="49" charset="0"/>
      <p:regular r:id="rId27"/>
      <p:bold r:id="rId28"/>
      <p:italic r:id="rId29"/>
      <p:boldItalic r:id="rId30"/>
    </p:embeddedFont>
    <p:embeddedFont>
      <p:font typeface="Open Sans" panose="020F0502020204030204" pitchFamily="34" charset="0"/>
      <p:regular r:id="rId31"/>
    </p:embeddedFont>
    <p:embeddedFont>
      <p:font typeface="Open Sans Bold" panose="020B0604020202020204" charset="0"/>
      <p:regular r:id="rId32"/>
      <p:bold r:id="rId33"/>
    </p:embeddedFont>
    <p:embeddedFont>
      <p:font typeface="Open Sans Bold Italics" panose="020B0604020202020204" charset="0"/>
      <p:regular r:id="rId34"/>
      <p:boldItalic r:id="rId35"/>
    </p:embeddedFont>
    <p:embeddedFont>
      <p:font typeface="Open Sans Italics" panose="020B0604020202020204" charset="0"/>
      <p:regular r:id="rId36"/>
      <p:italic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954" y="6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256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viewProps" Target="viewProps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presProps" Target="pres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318390" cy="10287000"/>
          </a:xfrm>
          <a:custGeom>
            <a:avLst/>
            <a:gdLst/>
            <a:ahLst/>
            <a:cxnLst/>
            <a:rect l="l" t="t" r="r" b="b"/>
            <a:pathLst>
              <a:path w="7318390" h="10287000">
                <a:moveTo>
                  <a:pt x="0" y="0"/>
                </a:moveTo>
                <a:lnTo>
                  <a:pt x="7318390" y="0"/>
                </a:lnTo>
                <a:lnTo>
                  <a:pt x="73183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736" r="-38264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4572000" y="2509759"/>
            <a:ext cx="14264524" cy="580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1">
                <a:solidFill>
                  <a:srgbClr val="100B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Powerbank solaire portable — ISTA Témara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095950" y="414732"/>
            <a:ext cx="72166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D47A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Solaris Lux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89088" y="4819967"/>
            <a:ext cx="8036040" cy="3401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Équipe : </a:t>
            </a: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4340"/>
              </a:lnSpc>
            </a:pP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Youssouf Adlani — CEO</a:t>
            </a:r>
          </a:p>
          <a:p>
            <a:pPr algn="ctr">
              <a:lnSpc>
                <a:spcPts val="4340"/>
              </a:lnSpc>
            </a:pPr>
            <a:endParaRPr lang="en-US" sz="31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4340"/>
              </a:lnSpc>
            </a:pP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Youssef </a:t>
            </a:r>
            <a:r>
              <a:rPr lang="en-US" sz="31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Zhar</a:t>
            </a:r>
            <a:r>
              <a:rPr lang="en-US" sz="31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— CTO</a:t>
            </a:r>
          </a:p>
          <a:p>
            <a:pPr algn="ctr">
              <a:lnSpc>
                <a:spcPts val="4340"/>
              </a:lnSpc>
            </a:pPr>
            <a:endParaRPr lang="en-US" sz="31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118092"/>
              </p:ext>
            </p:extLst>
          </p:nvPr>
        </p:nvGraphicFramePr>
        <p:xfrm>
          <a:off x="1370421" y="3390987"/>
          <a:ext cx="15888879" cy="6210310"/>
        </p:xfrm>
        <a:graphic>
          <a:graphicData uri="http://schemas.openxmlformats.org/drawingml/2006/table">
            <a:tbl>
              <a:tblPr/>
              <a:tblGrid>
                <a:gridCol w="8078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1317">
                <a:tc>
                  <a:txBody>
                    <a:bodyPr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 xml:space="preserve"> Youssouf Adlani — CEO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Responsable</a:t>
                      </a:r>
                      <a:r>
                        <a:rPr lang="en-US" sz="2699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 xml:space="preserve"> des ventes et des </a:t>
                      </a:r>
                      <a:r>
                        <a:rPr lang="en-US" sz="2699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partenariats</a:t>
                      </a:r>
                      <a:endParaRPr lang="en-US" sz="1100" dirty="0"/>
                    </a:p>
                    <a:p>
                      <a:pPr algn="ctr">
                        <a:lnSpc>
                          <a:spcPts val="3779"/>
                        </a:lnSpc>
                      </a:pPr>
                      <a:r>
                        <a:rPr lang="en-US" sz="2699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Gère</a:t>
                      </a:r>
                      <a:r>
                        <a:rPr lang="en-US" sz="2699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 xml:space="preserve"> la relation avec les clients</a:t>
                      </a:r>
                    </a:p>
                    <a:p>
                      <a:pPr algn="ctr">
                        <a:lnSpc>
                          <a:spcPts val="3779"/>
                        </a:lnSpc>
                      </a:pPr>
                      <a:r>
                        <a:rPr lang="en-US" sz="2699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Développe</a:t>
                      </a:r>
                      <a:r>
                        <a:rPr lang="en-US" sz="2699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 xml:space="preserve"> le </a:t>
                      </a:r>
                      <a:r>
                        <a:rPr lang="en-US" sz="2699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projet</a:t>
                      </a:r>
                      <a:r>
                        <a:rPr lang="en-US" sz="2699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 xml:space="preserve"> sur </a:t>
                      </a:r>
                      <a:r>
                        <a:rPr lang="en-US" sz="2699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l’ISTA</a:t>
                      </a:r>
                      <a:r>
                        <a:rPr lang="en-US" sz="2699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 xml:space="preserve"> </a:t>
                      </a:r>
                      <a:r>
                        <a:rPr lang="en-US" sz="2699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Témara</a:t>
                      </a:r>
                      <a:endParaRPr lang="en-US" sz="2699" dirty="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8993">
                <a:tc>
                  <a:txBody>
                    <a:bodyPr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 xml:space="preserve"> Youssef </a:t>
                      </a:r>
                      <a:r>
                        <a:rPr lang="en-US" sz="3299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Zhar</a:t>
                      </a:r>
                      <a:r>
                        <a:rPr lang="en-US" sz="3299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 xml:space="preserve"> — CTO</a:t>
                      </a:r>
                      <a:endParaRPr lang="en-US" sz="1100" dirty="0"/>
                    </a:p>
                    <a:p>
                      <a:pPr algn="ctr">
                        <a:lnSpc>
                          <a:spcPts val="4619"/>
                        </a:lnSpc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Responsable</a:t>
                      </a:r>
                      <a:r>
                        <a:rPr lang="en-US" sz="2999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 xml:space="preserve"> technique du </a:t>
                      </a:r>
                      <a:r>
                        <a:rPr lang="en-US" sz="2999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produit</a:t>
                      </a:r>
                      <a:endParaRPr lang="en-US" sz="1100" dirty="0"/>
                    </a:p>
                    <a:p>
                      <a:pPr algn="ctr">
                        <a:lnSpc>
                          <a:spcPts val="4199"/>
                        </a:lnSpc>
                      </a:pPr>
                      <a:r>
                        <a:rPr lang="en-US" sz="2999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Gère</a:t>
                      </a:r>
                      <a:r>
                        <a:rPr lang="en-US" sz="2999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 xml:space="preserve"> la production et les </a:t>
                      </a:r>
                      <a:r>
                        <a:rPr lang="en-US" sz="2999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coûts</a:t>
                      </a:r>
                      <a:endParaRPr lang="en-US" sz="2999" dirty="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algn="ctr">
                        <a:lnSpc>
                          <a:spcPts val="4199"/>
                        </a:lnSpc>
                      </a:pPr>
                      <a:r>
                        <a:rPr lang="en-US" sz="2999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 xml:space="preserve">Supervise les finances et </a:t>
                      </a:r>
                      <a:r>
                        <a:rPr lang="en-US" sz="2999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l’organisation</a:t>
                      </a:r>
                      <a:endParaRPr lang="en-US" sz="2999" dirty="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9153290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4724400" y="445435"/>
            <a:ext cx="9667816" cy="1650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510"/>
              </a:lnSpc>
            </a:pPr>
            <a:r>
              <a:rPr lang="en-US" sz="9650" b="1" dirty="0">
                <a:solidFill>
                  <a:srgbClr val="0D47A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 xml:space="preserve">Équipe &amp; </a:t>
            </a:r>
            <a:r>
              <a:rPr lang="en-US" sz="9650" b="1" dirty="0" err="1">
                <a:solidFill>
                  <a:srgbClr val="0D47A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Rôles</a:t>
            </a:r>
            <a:endParaRPr lang="en-US" sz="9650" b="1" dirty="0">
              <a:solidFill>
                <a:srgbClr val="0D47A1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872105"/>
              </p:ext>
            </p:extLst>
          </p:nvPr>
        </p:nvGraphicFramePr>
        <p:xfrm>
          <a:off x="1028700" y="3495429"/>
          <a:ext cx="16652374" cy="6057900"/>
        </p:xfrm>
        <a:graphic>
          <a:graphicData uri="http://schemas.openxmlformats.org/drawingml/2006/table">
            <a:tbl>
              <a:tblPr/>
              <a:tblGrid>
                <a:gridCol w="8345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7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14475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 xml:space="preserve"> Batterie vide </a:t>
                      </a:r>
                      <a:r>
                        <a:rPr lang="en-US" sz="3199" b="1" dirty="0" err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en</a:t>
                      </a:r>
                      <a:r>
                        <a:rPr lang="en-US" sz="3199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 xml:space="preserve"> </a:t>
                      </a:r>
                      <a:r>
                        <a:rPr lang="en-US" sz="3199" b="1" dirty="0" err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journée</a:t>
                      </a:r>
                      <a:endParaRPr lang="en-US" sz="1100" dirty="0"/>
                    </a:p>
                    <a:p>
                      <a:pPr algn="ctr">
                        <a:lnSpc>
                          <a:spcPts val="2520"/>
                        </a:lnSpc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Les chargeurs bon marché se cassent vite</a:t>
                      </a:r>
                      <a:endParaRPr lang="en-US" sz="1100"/>
                    </a:p>
                    <a:p>
                      <a:pPr algn="ctr">
                        <a:lnSpc>
                          <a:spcPts val="3919"/>
                        </a:lnSpc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Risque de surchauffe et danger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4475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 dirty="0" err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Chargeurs</a:t>
                      </a:r>
                      <a:r>
                        <a:rPr lang="en-US" sz="3199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 xml:space="preserve"> de </a:t>
                      </a:r>
                      <a:r>
                        <a:rPr lang="en-US" sz="3199" b="1" dirty="0" err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mauvaise</a:t>
                      </a:r>
                      <a:r>
                        <a:rPr lang="en-US" sz="3199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 xml:space="preserve"> </a:t>
                      </a:r>
                      <a:r>
                        <a:rPr lang="en-US" sz="3199" b="1" dirty="0" err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qualité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Les bonnes marques coûtent très cher</a:t>
                      </a:r>
                      <a:endParaRPr lang="en-US" sz="1100"/>
                    </a:p>
                    <a:p>
                      <a:pPr algn="ctr">
                        <a:lnSpc>
                          <a:spcPts val="3919"/>
                        </a:lnSpc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Inaccessibles pour les étudiants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4475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 xml:space="preserve"> </a:t>
                      </a:r>
                      <a:r>
                        <a:rPr lang="en-US" sz="3199" b="1" dirty="0" err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Produits</a:t>
                      </a:r>
                      <a:r>
                        <a:rPr lang="en-US" sz="3199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 xml:space="preserve"> premium trop </a:t>
                      </a:r>
                      <a:r>
                        <a:rPr lang="en-US" sz="3199" b="1" dirty="0" err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chers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Les bonnes marques coûtent très cher</a:t>
                      </a:r>
                      <a:endParaRPr lang="en-US" sz="1100"/>
                    </a:p>
                    <a:p>
                      <a:pPr algn="ctr">
                        <a:lnSpc>
                          <a:spcPts val="3919"/>
                        </a:lnSpc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Inaccessibles pour les étudiants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4475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 xml:space="preserve"> </a:t>
                      </a:r>
                      <a:r>
                        <a:rPr lang="en-US" sz="3199" b="1" dirty="0" err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Aucun</a:t>
                      </a:r>
                      <a:r>
                        <a:rPr lang="en-US" sz="3199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 xml:space="preserve"> point de recharge disponible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Pas de borne de recharge sur le campus</a:t>
                      </a:r>
                      <a:endParaRPr lang="en-US" sz="1100" dirty="0"/>
                    </a:p>
                    <a:p>
                      <a:pPr algn="ctr">
                        <a:lnSpc>
                          <a:spcPts val="3919"/>
                        </a:lnSpc>
                      </a:pPr>
                      <a:r>
                        <a:rPr lang="en-US" sz="2799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 xml:space="preserve"> Les </a:t>
                      </a:r>
                      <a:r>
                        <a:rPr lang="en-US" sz="2799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étudiants</a:t>
                      </a:r>
                      <a:r>
                        <a:rPr lang="en-US" sz="2799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 xml:space="preserve"> </a:t>
                      </a:r>
                      <a:r>
                        <a:rPr lang="en-US" sz="2799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cherchent</a:t>
                      </a:r>
                      <a:r>
                        <a:rPr lang="en-US" sz="2799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 xml:space="preserve"> des </a:t>
                      </a:r>
                      <a:r>
                        <a:rPr lang="en-US" sz="2799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prises</a:t>
                      </a:r>
                      <a:r>
                        <a:rPr lang="en-US" sz="2799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 xml:space="preserve"> </a:t>
                      </a:r>
                      <a:r>
                        <a:rPr lang="en-US" sz="2799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partout</a:t>
                      </a:r>
                      <a:endParaRPr lang="en-US" sz="2799" dirty="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5635136" y="181332"/>
            <a:ext cx="743950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D47A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Problèmes</a:t>
            </a:r>
            <a:endParaRPr lang="en-US" sz="9200" b="1" dirty="0">
              <a:solidFill>
                <a:srgbClr val="0D47A1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0" y="2128898"/>
            <a:ext cx="10615042" cy="604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6"/>
              </a:lnSpc>
            </a:pPr>
            <a:r>
              <a:rPr lang="en-US" sz="357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 xml:space="preserve"> Problèmes rencontrés sur le ISTA Témara :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A7875-8F0C-5390-87D3-915CAAF40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G Left"/>
          <p:cNvSpPr>
            <a:spLocks noGrp="1"/>
          </p:cNvSpPr>
          <p:nvPr/>
        </p:nvSpPr>
        <p:spPr>
          <a:xfrm>
            <a:off x="0" y="0"/>
            <a:ext cx="5944338" cy="10287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Label Pill"/>
          <p:cNvSpPr>
            <a:spLocks noGrp="1"/>
          </p:cNvSpPr>
          <p:nvPr/>
        </p:nvSpPr>
        <p:spPr>
          <a:xfrm>
            <a:off x="304800" y="304800"/>
            <a:ext cx="2743200" cy="381000"/>
          </a:xfrm>
          <a:prstGeom prst="roundRect">
            <a:avLst>
              <a:gd name="adj" fmla="val 25000"/>
            </a:avLst>
          </a:prstGeom>
          <a:solidFill>
            <a:srgbClr val="2E8B57"/>
          </a:solidFill>
          <a:ln>
            <a:noFill/>
          </a:ln>
        </p:spPr>
        <p:txBody>
          <a:bodyPr anchor="ctr"/>
          <a:lstStyle/>
          <a:p>
            <a:pPr algn="ctr"/>
            <a:r>
              <a:rPr lang="fr-FR" sz="1100" b="1" spc="200">
                <a:solidFill>
                  <a:srgbClr val="FFFFFF"/>
                </a:solidFill>
                <a:latin typeface="Bookman Old Style" panose="02050604050505020204" charset="0"/>
                <a:cs typeface="Bookman Old Style" panose="02050604050505020204" charset="0"/>
              </a:rPr>
              <a:t>BUYER PERSONA</a:t>
            </a:r>
          </a:p>
        </p:txBody>
      </p:sp>
      <p:sp>
        <p:nvSpPr>
          <p:cNvPr id="7" name="Avatar Circle"/>
          <p:cNvSpPr>
            <a:spLocks noGrp="1"/>
          </p:cNvSpPr>
          <p:nvPr/>
        </p:nvSpPr>
        <p:spPr>
          <a:xfrm>
            <a:off x="1638300" y="876300"/>
            <a:ext cx="2667000" cy="2667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rgbClr val="FFD700"/>
            </a:solidFill>
          </a:ln>
        </p:spPr>
        <p:txBody>
          <a:bodyPr anchor="ctr"/>
          <a:lstStyle/>
          <a:p>
            <a:pPr algn="ctr"/>
            <a:r>
              <a:rPr lang="fr-FR" sz="440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8" name="Persona Name"/>
          <p:cNvSpPr txBox="1"/>
          <p:nvPr/>
        </p:nvSpPr>
        <p:spPr>
          <a:xfrm>
            <a:off x="304800" y="3619500"/>
            <a:ext cx="5334000" cy="6354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fr-FR" sz="2400" b="1">
                <a:solidFill>
                  <a:srgbClr val="FFFFFF"/>
                </a:solidFill>
                <a:latin typeface="Cascadia Code" panose="020B0609020000020004" charset="0"/>
                <a:cs typeface="Cascadia Code" panose="020B0609020000020004" charset="0"/>
              </a:rPr>
              <a:t>Yassine,</a:t>
            </a:r>
            <a:r>
              <a:rPr lang="fr-FR" sz="2400" b="1">
                <a:solidFill>
                  <a:srgbClr val="FFFFFF"/>
                </a:solidFill>
              </a:rPr>
              <a:t xml:space="preserve"> </a:t>
            </a:r>
            <a:r>
              <a:rPr lang="fr-FR" sz="2400" b="1">
                <a:solidFill>
                  <a:srgbClr val="FFFFFF"/>
                </a:solidFill>
                <a:latin typeface="Berlin Sans FB Demi" panose="020E0802020502020306" charset="0"/>
                <a:cs typeface="Berlin Sans FB Demi" panose="020E0802020502020306" charset="0"/>
              </a:rPr>
              <a:t>21 ans</a:t>
            </a:r>
          </a:p>
        </p:txBody>
      </p:sp>
      <p:sp>
        <p:nvSpPr>
          <p:cNvPr id="9" name="Persona Role"/>
          <p:cNvSpPr txBox="1"/>
          <p:nvPr/>
        </p:nvSpPr>
        <p:spPr>
          <a:xfrm>
            <a:off x="304800" y="4191000"/>
            <a:ext cx="5334000" cy="4572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fr-FR" sz="1300">
                <a:solidFill>
                  <a:srgbClr val="87CEEB"/>
                </a:solidFill>
                <a:latin typeface="Bookman Old Style" panose="02050604050505020204" charset="0"/>
                <a:cs typeface="Bookman Old Style" panose="02050604050505020204" charset="0"/>
              </a:rPr>
              <a:t>Etudiant Technicien — ISTA Témara</a:t>
            </a:r>
          </a:p>
        </p:txBody>
      </p:sp>
      <p:sp>
        <p:nvSpPr>
          <p:cNvPr id="10" name="Divider"/>
          <p:cNvSpPr>
            <a:spLocks noGrp="1"/>
          </p:cNvSpPr>
          <p:nvPr/>
        </p:nvSpPr>
        <p:spPr>
          <a:xfrm>
            <a:off x="304800" y="4724400"/>
            <a:ext cx="5028600" cy="381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Stat1"/>
          <p:cNvSpPr txBox="1"/>
          <p:nvPr/>
        </p:nvSpPr>
        <p:spPr>
          <a:xfrm>
            <a:off x="304800" y="4876200"/>
            <a:ext cx="1524000" cy="76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fr-FR" sz="2000" b="1">
                <a:solidFill>
                  <a:srgbClr val="FFD700"/>
                </a:solidFill>
                <a:latin typeface="Arial Black" panose="020B0A04020102020204" charset="0"/>
                <a:cs typeface="Arial Black" panose="020B0A04020102020204" charset="0"/>
              </a:rPr>
              <a:t>16-29</a:t>
            </a:r>
          </a:p>
          <a:p>
            <a:pPr algn="ctr"/>
            <a:r>
              <a:rPr lang="fr-FR" sz="900">
                <a:solidFill>
                  <a:srgbClr val="87CEEB"/>
                </a:solidFill>
                <a:latin typeface="Arial Black" panose="020B0A04020102020204" charset="0"/>
                <a:cs typeface="Arial Black" panose="020B0A04020102020204" charset="0"/>
              </a:rPr>
              <a:t>ANS</a:t>
            </a:r>
          </a:p>
        </p:txBody>
      </p:sp>
      <p:sp>
        <p:nvSpPr>
          <p:cNvPr id="12" name="Stat2"/>
          <p:cNvSpPr txBox="1"/>
          <p:nvPr/>
        </p:nvSpPr>
        <p:spPr>
          <a:xfrm>
            <a:off x="2133600" y="4876200"/>
            <a:ext cx="1676400" cy="76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fr-FR" sz="2000" b="1">
                <a:solidFill>
                  <a:srgbClr val="FFD700"/>
                </a:solidFill>
                <a:latin typeface="Arial Black" panose="020B0A04020102020204" charset="0"/>
                <a:cs typeface="Arial Black" panose="020B0A04020102020204" charset="0"/>
              </a:rPr>
              <a:t>249</a:t>
            </a:r>
          </a:p>
          <a:p>
            <a:pPr algn="ctr"/>
            <a:r>
              <a:rPr lang="fr-FR" sz="900">
                <a:solidFill>
                  <a:srgbClr val="87CEEB"/>
                </a:solidFill>
                <a:latin typeface="Arial Black" panose="020B0A04020102020204" charset="0"/>
                <a:cs typeface="Arial Black" panose="020B0A04020102020204" charset="0"/>
              </a:rPr>
              <a:t>DH MAX</a:t>
            </a:r>
          </a:p>
        </p:txBody>
      </p:sp>
      <p:sp>
        <p:nvSpPr>
          <p:cNvPr id="13" name="Stat3"/>
          <p:cNvSpPr txBox="1"/>
          <p:nvPr/>
        </p:nvSpPr>
        <p:spPr>
          <a:xfrm>
            <a:off x="3962400" y="4876200"/>
            <a:ext cx="1676400" cy="76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fr-FR" sz="2000" b="1">
                <a:solidFill>
                  <a:srgbClr val="FFD700"/>
                </a:solidFill>
                <a:latin typeface="Arial Black" panose="020B0A04020102020204" charset="0"/>
                <a:cs typeface="Arial Black" panose="020B0A04020102020204" charset="0"/>
              </a:rPr>
              <a:t>ISTA</a:t>
            </a:r>
          </a:p>
          <a:p>
            <a:pPr algn="ctr"/>
            <a:r>
              <a:rPr lang="fr-FR" sz="900">
                <a:solidFill>
                  <a:srgbClr val="87CEEB"/>
                </a:solidFill>
                <a:latin typeface="Arial Black" panose="020B0A04020102020204" charset="0"/>
                <a:cs typeface="Arial Black" panose="020B0A04020102020204" charset="0"/>
              </a:rPr>
              <a:t>TEMARA</a:t>
            </a:r>
          </a:p>
        </p:txBody>
      </p:sp>
      <p:sp>
        <p:nvSpPr>
          <p:cNvPr id="14" name="Mot Label"/>
          <p:cNvSpPr txBox="1"/>
          <p:nvPr/>
        </p:nvSpPr>
        <p:spPr>
          <a:xfrm>
            <a:off x="304800" y="5676265"/>
            <a:ext cx="5334000" cy="330200"/>
          </a:xfrm>
          <a:prstGeom prst="rect">
            <a:avLst/>
          </a:prstGeom>
          <a:noFill/>
        </p:spPr>
        <p:txBody>
          <a:bodyPr/>
          <a:lstStyle/>
          <a:p>
            <a:r>
              <a:rPr lang="fr-FR" sz="1300" b="1" spc="150">
                <a:solidFill>
                  <a:srgbClr val="2E8B57"/>
                </a:solidFill>
                <a:latin typeface="Arial Black" panose="020B0A04020102020204" charset="0"/>
                <a:cs typeface="Arial Black" panose="020B0A04020102020204" charset="0"/>
              </a:rPr>
              <a:t>MOTIVATIONS</a:t>
            </a:r>
          </a:p>
        </p:txBody>
      </p:sp>
      <p:sp>
        <p:nvSpPr>
          <p:cNvPr id="15" name="Mot Text"/>
          <p:cNvSpPr txBox="1"/>
          <p:nvPr/>
        </p:nvSpPr>
        <p:spPr>
          <a:xfrm>
            <a:off x="304800" y="6096000"/>
            <a:ext cx="53340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fr-FR" sz="1600">
                <a:solidFill>
                  <a:srgbClr val="CADCFC"/>
                </a:solidFill>
                <a:latin typeface="Cascadia Code" panose="020B0609020000020004" charset="0"/>
                <a:cs typeface="Cascadia Code" panose="020B0609020000020004" charset="0"/>
              </a:rPr>
              <a:t>+ Garder son telephone charge toute la journee</a:t>
            </a:r>
          </a:p>
          <a:p>
            <a:r>
              <a:rPr lang="fr-FR" sz="1600">
                <a:solidFill>
                  <a:srgbClr val="CADCFC"/>
                </a:solidFill>
                <a:latin typeface="Cascadia Code" panose="020B0609020000020004" charset="0"/>
                <a:cs typeface="Cascadia Code" panose="020B0609020000020004" charset="0"/>
              </a:rPr>
              <a:t>+ Economiser et trouver des produits abordables</a:t>
            </a:r>
          </a:p>
          <a:p>
            <a:r>
              <a:rPr lang="fr-FR" sz="1600">
                <a:solidFill>
                  <a:srgbClr val="CADCFC"/>
                </a:solidFill>
                <a:latin typeface="Cascadia Code" panose="020B0609020000020004" charset="0"/>
                <a:cs typeface="Cascadia Code" panose="020B0609020000020004" charset="0"/>
              </a:rPr>
              <a:t>+ Independance et mobilite sur le ISTA</a:t>
            </a:r>
          </a:p>
        </p:txBody>
      </p:sp>
      <p:sp>
        <p:nvSpPr>
          <p:cNvPr id="16" name="Fru Label"/>
          <p:cNvSpPr txBox="1"/>
          <p:nvPr/>
        </p:nvSpPr>
        <p:spPr>
          <a:xfrm>
            <a:off x="323850" y="7462520"/>
            <a:ext cx="5334000" cy="330200"/>
          </a:xfrm>
          <a:prstGeom prst="rect">
            <a:avLst/>
          </a:prstGeom>
          <a:noFill/>
        </p:spPr>
        <p:txBody>
          <a:bodyPr/>
          <a:lstStyle/>
          <a:p>
            <a:r>
              <a:rPr lang="fr-FR" sz="1300" b="1" spc="150">
                <a:solidFill>
                  <a:srgbClr val="F96167"/>
                </a:solidFill>
                <a:latin typeface="Arial Black" panose="020B0A04020102020204" charset="0"/>
                <a:cs typeface="Arial Black" panose="020B0A04020102020204" charset="0"/>
              </a:rPr>
              <a:t>FRUSTRATIONS</a:t>
            </a:r>
          </a:p>
        </p:txBody>
      </p:sp>
      <p:sp>
        <p:nvSpPr>
          <p:cNvPr id="17" name="Fru Text"/>
          <p:cNvSpPr txBox="1"/>
          <p:nvPr/>
        </p:nvSpPr>
        <p:spPr>
          <a:xfrm>
            <a:off x="304800" y="7863840"/>
            <a:ext cx="5334000" cy="2081530"/>
          </a:xfrm>
          <a:prstGeom prst="rect">
            <a:avLst/>
          </a:prstGeom>
          <a:noFill/>
        </p:spPr>
        <p:txBody>
          <a:bodyPr/>
          <a:lstStyle/>
          <a:p>
            <a:r>
              <a:rPr lang="fr-FR" sz="1600">
                <a:solidFill>
                  <a:srgbClr val="F96167"/>
                </a:solidFill>
                <a:latin typeface="Cascadia Code" panose="020B0609020000020004" charset="0"/>
                <a:cs typeface="Cascadia Code" panose="020B0609020000020004" charset="0"/>
              </a:rPr>
              <a:t>- Batterie qui se vide en pleine journee de cours</a:t>
            </a:r>
          </a:p>
          <a:p>
            <a:r>
              <a:rPr lang="fr-FR" sz="1600">
                <a:solidFill>
                  <a:srgbClr val="F96167"/>
                </a:solidFill>
                <a:latin typeface="Cascadia Code" panose="020B0609020000020004" charset="0"/>
                <a:cs typeface="Cascadia Code" panose="020B0609020000020004" charset="0"/>
              </a:rPr>
              <a:t>- Chargeurs bon marche qui tombent en panne</a:t>
            </a:r>
          </a:p>
          <a:p>
            <a:r>
              <a:rPr lang="fr-FR" sz="1600">
                <a:solidFill>
                  <a:srgbClr val="F96167"/>
                </a:solidFill>
                <a:latin typeface="Cascadia Code" panose="020B0609020000020004" charset="0"/>
                <a:cs typeface="Cascadia Code" panose="020B0609020000020004" charset="0"/>
              </a:rPr>
              <a:t>- Aucune prise disponible sur l’ISTA</a:t>
            </a:r>
          </a:p>
        </p:txBody>
      </p:sp>
      <p:pic>
        <p:nvPicPr>
          <p:cNvPr id="33" name="Image 32"/>
          <p:cNvPicPr/>
          <p:nvPr/>
        </p:nvPicPr>
        <p:blipFill>
          <a:blip r:embed="rId2"/>
          <a:stretch>
            <a:fillRect/>
          </a:stretch>
        </p:blipFill>
        <p:spPr>
          <a:xfrm>
            <a:off x="1513840" y="762000"/>
            <a:ext cx="2915285" cy="2892425"/>
          </a:xfrm>
          <a:prstGeom prst="rect">
            <a:avLst/>
          </a:prstGeom>
        </p:spPr>
      </p:pic>
      <p:sp>
        <p:nvSpPr>
          <p:cNvPr id="18" name="BG Right"/>
          <p:cNvSpPr>
            <a:spLocks noGrp="1"/>
          </p:cNvSpPr>
          <p:nvPr/>
        </p:nvSpPr>
        <p:spPr>
          <a:xfrm>
            <a:off x="5944338" y="0"/>
            <a:ext cx="12343662" cy="102870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Slide Title"/>
          <p:cNvSpPr txBox="1"/>
          <p:nvPr/>
        </p:nvSpPr>
        <p:spPr>
          <a:xfrm>
            <a:off x="6248938" y="304800"/>
            <a:ext cx="11734062" cy="812800"/>
          </a:xfrm>
          <a:prstGeom prst="rect">
            <a:avLst/>
          </a:prstGeom>
          <a:noFill/>
        </p:spPr>
        <p:txBody>
          <a:bodyPr/>
          <a:lstStyle/>
          <a:p>
            <a:r>
              <a:rPr lang="fr-FR" sz="3200" b="1">
                <a:solidFill>
                  <a:srgbClr val="0D3320"/>
                </a:solidFill>
                <a:latin typeface="Bahnschrift" panose="020B0502040204020203" charset="0"/>
                <a:cs typeface="Bahnschrift" panose="020B0502040204020203" charset="0"/>
              </a:rPr>
              <a:t>Consumer Profile Brainstorm</a:t>
            </a:r>
          </a:p>
        </p:txBody>
      </p:sp>
      <p:sp>
        <p:nvSpPr>
          <p:cNvPr id="20" name="Card1 BG"/>
          <p:cNvSpPr>
            <a:spLocks noGrp="1"/>
          </p:cNvSpPr>
          <p:nvPr/>
        </p:nvSpPr>
        <p:spPr>
          <a:xfrm>
            <a:off x="6248938" y="1219200"/>
            <a:ext cx="5715000" cy="39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0">
            <a:solidFill>
              <a:srgbClr val="2E8B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ard1 Bar"/>
          <p:cNvSpPr>
            <a:spLocks noGrp="1"/>
          </p:cNvSpPr>
          <p:nvPr/>
        </p:nvSpPr>
        <p:spPr>
          <a:xfrm>
            <a:off x="6248938" y="1219200"/>
            <a:ext cx="5715000" cy="3429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Card1 Content"/>
          <p:cNvSpPr txBox="1"/>
          <p:nvPr/>
        </p:nvSpPr>
        <p:spPr>
          <a:xfrm>
            <a:off x="6477635" y="1218565"/>
            <a:ext cx="5259070" cy="3886835"/>
          </a:xfrm>
          <a:prstGeom prst="rect">
            <a:avLst/>
          </a:prstGeom>
          <a:noFill/>
        </p:spPr>
        <p:txBody>
          <a:bodyPr/>
          <a:lstStyle/>
          <a:p>
            <a:r>
              <a:rPr lang="fr-FR" sz="2000" b="1">
                <a:solidFill>
                  <a:srgbClr val="0D3320"/>
                </a:solidFill>
                <a:latin typeface="Californian FB" panose="0207040306080B030204" charset="0"/>
                <a:cs typeface="Californian FB" panose="0207040306080B030204" charset="0"/>
              </a:rPr>
              <a:t>Qui est-il ?</a:t>
            </a:r>
          </a:p>
          <a:p>
            <a:endParaRPr lang="fr-FR" sz="2000"/>
          </a:p>
          <a:p>
            <a:r>
              <a:rPr lang="fr-FR" sz="2000">
                <a:solidFill>
                  <a:srgbClr val="1A3320"/>
                </a:solidFill>
                <a:latin typeface="Berlin Sans FB Demi" panose="020E0802020502020306" charset="0"/>
                <a:cs typeface="Berlin Sans FB Demi" panose="020E0802020502020306" charset="0"/>
              </a:rPr>
              <a:t>Etudiant en formation technicienne a l'ISTA Temara, 18-25 ans, passe 6-8h sur ISTA chaque jour.</a:t>
            </a:r>
          </a:p>
          <a:p>
            <a:endParaRPr lang="fr-FR" sz="2000">
              <a:latin typeface="Berlin Sans FB Demi" panose="020E0802020502020306" charset="0"/>
              <a:cs typeface="Berlin Sans FB Demi" panose="020E0802020502020306" charset="0"/>
            </a:endParaRPr>
          </a:p>
          <a:p>
            <a:r>
              <a:rPr lang="fr-FR" sz="2000">
                <a:solidFill>
                  <a:srgbClr val="1A3320"/>
                </a:solidFill>
                <a:latin typeface="Berlin Sans FB Demi" panose="020E0802020502020306" charset="0"/>
                <a:cs typeface="Berlin Sans FB Demi" panose="020E0802020502020306" charset="0"/>
              </a:rPr>
              <a:t>Utilise son smartphone intensivement : cours, reseaux sociaux, communication avec famille.</a:t>
            </a:r>
          </a:p>
          <a:p>
            <a:endParaRPr lang="fr-FR" sz="2000">
              <a:latin typeface="Berlin Sans FB Demi" panose="020E0802020502020306" charset="0"/>
              <a:cs typeface="Berlin Sans FB Demi" panose="020E0802020502020306" charset="0"/>
            </a:endParaRPr>
          </a:p>
          <a:p>
            <a:r>
              <a:rPr lang="fr-FR" sz="2000">
                <a:solidFill>
                  <a:srgbClr val="1A3320"/>
                </a:solidFill>
                <a:latin typeface="Berlin Sans FB Demi" panose="020E0802020502020306" charset="0"/>
                <a:cs typeface="Berlin Sans FB Demi" panose="020E0802020502020306" charset="0"/>
              </a:rPr>
              <a:t>Budget mensuel limite, tres sensible au rapport qualite/prix.</a:t>
            </a:r>
          </a:p>
        </p:txBody>
      </p:sp>
      <p:sp>
        <p:nvSpPr>
          <p:cNvPr id="23" name="Card2 BG"/>
          <p:cNvSpPr>
            <a:spLocks noGrp="1"/>
          </p:cNvSpPr>
          <p:nvPr/>
        </p:nvSpPr>
        <p:spPr>
          <a:xfrm>
            <a:off x="12268938" y="1219200"/>
            <a:ext cx="5715000" cy="39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0">
            <a:solidFill>
              <a:srgbClr val="FFD7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Card2 Bar"/>
          <p:cNvSpPr>
            <a:spLocks noGrp="1"/>
          </p:cNvSpPr>
          <p:nvPr/>
        </p:nvSpPr>
        <p:spPr>
          <a:xfrm>
            <a:off x="12268938" y="1219200"/>
            <a:ext cx="5715000" cy="342900"/>
          </a:xfrm>
          <a:prstGeom prst="roundRect">
            <a:avLst>
              <a:gd name="adj" fmla="val 8000"/>
            </a:avLst>
          </a:prstGeom>
          <a:solidFill>
            <a:srgbClr val="FFD7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Card2 Content"/>
          <p:cNvSpPr txBox="1"/>
          <p:nvPr/>
        </p:nvSpPr>
        <p:spPr>
          <a:xfrm>
            <a:off x="12497435" y="1218565"/>
            <a:ext cx="5259070" cy="3886835"/>
          </a:xfrm>
          <a:prstGeom prst="rect">
            <a:avLst/>
          </a:prstGeom>
          <a:noFill/>
        </p:spPr>
        <p:txBody>
          <a:bodyPr/>
          <a:lstStyle/>
          <a:p>
            <a:r>
              <a:rPr lang="fr-FR" sz="2000" b="1">
                <a:solidFill>
                  <a:srgbClr val="0D3320"/>
                </a:solidFill>
                <a:latin typeface="Californian FB" panose="0207040306080B030204" charset="0"/>
                <a:cs typeface="Californian FB" panose="0207040306080B030204" charset="0"/>
              </a:rPr>
              <a:t>Ce qu'il pense</a:t>
            </a:r>
          </a:p>
          <a:p>
            <a:endParaRPr lang="fr-FR" sz="1200"/>
          </a:p>
          <a:p>
            <a:r>
              <a:rPr lang="fr-FR" sz="2000" i="1">
                <a:solidFill>
                  <a:srgbClr val="1A3320"/>
                </a:solidFill>
                <a:latin typeface="Berlin Sans FB Demi" panose="020E0802020502020306" charset="0"/>
                <a:cs typeface="Berlin Sans FB Demi" panose="020E0802020502020306" charset="0"/>
              </a:rPr>
              <a:t>"Je veux un powerbank fiable, pas cher et pratique a transporter."</a:t>
            </a:r>
          </a:p>
          <a:p>
            <a:endParaRPr lang="fr-FR" sz="2000">
              <a:latin typeface="Berlin Sans FB Demi" panose="020E0802020502020306" charset="0"/>
              <a:cs typeface="Berlin Sans FB Demi" panose="020E0802020502020306" charset="0"/>
            </a:endParaRPr>
          </a:p>
          <a:p>
            <a:r>
              <a:rPr lang="fr-FR" sz="2000" i="1">
                <a:solidFill>
                  <a:srgbClr val="1A3320"/>
                </a:solidFill>
                <a:latin typeface="Berlin Sans FB Demi" panose="020E0802020502020306" charset="0"/>
                <a:cs typeface="Berlin Sans FB Demi" panose="020E0802020502020306" charset="0"/>
              </a:rPr>
              <a:t>"249 DH c'est raisonnable si le produit est durable."</a:t>
            </a:r>
          </a:p>
          <a:p>
            <a:endParaRPr lang="fr-FR" sz="2000">
              <a:latin typeface="Berlin Sans FB Demi" panose="020E0802020502020306" charset="0"/>
              <a:cs typeface="Berlin Sans FB Demi" panose="020E0802020502020306" charset="0"/>
            </a:endParaRPr>
          </a:p>
          <a:p>
            <a:r>
              <a:rPr lang="fr-FR" sz="2000">
                <a:solidFill>
                  <a:srgbClr val="1A3320"/>
                </a:solidFill>
                <a:latin typeface="Berlin Sans FB Demi" panose="020E0802020502020306" charset="0"/>
                <a:cs typeface="Berlin Sans FB Demi" panose="020E0802020502020306" charset="0"/>
              </a:rPr>
              <a:t>Apprécie les solutions eco-responsables. Fier d'acheter local.</a:t>
            </a:r>
          </a:p>
        </p:txBody>
      </p:sp>
      <p:sp>
        <p:nvSpPr>
          <p:cNvPr id="26" name="Card3 BG"/>
          <p:cNvSpPr>
            <a:spLocks noGrp="1"/>
          </p:cNvSpPr>
          <p:nvPr/>
        </p:nvSpPr>
        <p:spPr>
          <a:xfrm>
            <a:off x="6248938" y="5334000"/>
            <a:ext cx="5715000" cy="464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0">
            <a:solidFill>
              <a:srgbClr val="02809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Card3 Bar"/>
          <p:cNvSpPr>
            <a:spLocks noGrp="1"/>
          </p:cNvSpPr>
          <p:nvPr/>
        </p:nvSpPr>
        <p:spPr>
          <a:xfrm>
            <a:off x="6248938" y="5334000"/>
            <a:ext cx="5715000" cy="3429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Card3 Content"/>
          <p:cNvSpPr txBox="1"/>
          <p:nvPr/>
        </p:nvSpPr>
        <p:spPr>
          <a:xfrm>
            <a:off x="6477635" y="5293360"/>
            <a:ext cx="5259070" cy="4613275"/>
          </a:xfrm>
          <a:prstGeom prst="rect">
            <a:avLst/>
          </a:prstGeom>
          <a:noFill/>
        </p:spPr>
        <p:txBody>
          <a:bodyPr/>
          <a:lstStyle/>
          <a:p>
            <a:r>
              <a:rPr lang="fr-FR" sz="2000" b="1">
                <a:solidFill>
                  <a:srgbClr val="0D3320"/>
                </a:solidFill>
                <a:latin typeface="Californian FB" panose="0207040306080B030204" charset="0"/>
                <a:cs typeface="Californian FB" panose="0207040306080B030204" charset="0"/>
              </a:rPr>
              <a:t>Comportement d'achat</a:t>
            </a:r>
          </a:p>
          <a:p>
            <a:endParaRPr lang="fr-FR" sz="1200"/>
          </a:p>
          <a:p>
            <a:r>
              <a:rPr lang="fr-FR" sz="2000">
                <a:solidFill>
                  <a:srgbClr val="1A3320"/>
                </a:solidFill>
                <a:latin typeface="Berlin Sans FB Demi" panose="020E0802020502020306" charset="0"/>
                <a:cs typeface="Berlin Sans FB Demi" panose="020E0802020502020306" charset="0"/>
              </a:rPr>
              <a:t>Achat impulsif si prix accessible et visible sur ISTA.</a:t>
            </a:r>
          </a:p>
          <a:p>
            <a:endParaRPr lang="fr-FR" sz="2000">
              <a:latin typeface="Berlin Sans FB Demi" panose="020E0802020502020306" charset="0"/>
              <a:cs typeface="Berlin Sans FB Demi" panose="020E0802020502020306" charset="0"/>
            </a:endParaRPr>
          </a:p>
          <a:p>
            <a:r>
              <a:rPr lang="fr-FR" sz="2000">
                <a:solidFill>
                  <a:srgbClr val="1A3320"/>
                </a:solidFill>
                <a:latin typeface="Berlin Sans FB Demi" panose="020E0802020502020306" charset="0"/>
                <a:cs typeface="Berlin Sans FB Demi" panose="020E0802020502020306" charset="0"/>
              </a:rPr>
              <a:t>Influence par les pairs (bouche-a-oreille entre etudiants).</a:t>
            </a:r>
          </a:p>
          <a:p>
            <a:endParaRPr lang="fr-FR" sz="2000">
              <a:latin typeface="Berlin Sans FB Demi" panose="020E0802020502020306" charset="0"/>
              <a:cs typeface="Berlin Sans FB Demi" panose="020E0802020502020306" charset="0"/>
            </a:endParaRPr>
          </a:p>
          <a:p>
            <a:r>
              <a:rPr lang="fr-FR" sz="2000">
                <a:solidFill>
                  <a:srgbClr val="1A3320"/>
                </a:solidFill>
                <a:latin typeface="Berlin Sans FB Demi" panose="020E0802020502020306" charset="0"/>
                <a:cs typeface="Berlin Sans FB Demi" panose="020E0802020502020306" charset="0"/>
              </a:rPr>
              <a:t>Sensible aux demonstrations en direct et aux garanties produit.</a:t>
            </a:r>
          </a:p>
          <a:p>
            <a:endParaRPr lang="fr-FR" sz="2000">
              <a:latin typeface="Berlin Sans FB Demi" panose="020E0802020502020306" charset="0"/>
              <a:cs typeface="Berlin Sans FB Demi" panose="020E0802020502020306" charset="0"/>
            </a:endParaRPr>
          </a:p>
          <a:p>
            <a:r>
              <a:rPr lang="fr-FR" sz="2000">
                <a:solidFill>
                  <a:srgbClr val="1A3320"/>
                </a:solidFill>
                <a:latin typeface="Berlin Sans FB Demi" panose="020E0802020502020306" charset="0"/>
                <a:cs typeface="Berlin Sans FB Demi" panose="020E0802020502020306" charset="0"/>
              </a:rPr>
              <a:t>Canal prefere : vente directe + ambassadeurs etudiants.</a:t>
            </a:r>
          </a:p>
        </p:txBody>
      </p:sp>
      <p:sp>
        <p:nvSpPr>
          <p:cNvPr id="29" name="Card4 BG"/>
          <p:cNvSpPr>
            <a:spLocks noGrp="1"/>
          </p:cNvSpPr>
          <p:nvPr/>
        </p:nvSpPr>
        <p:spPr>
          <a:xfrm>
            <a:off x="12268938" y="5334000"/>
            <a:ext cx="5715000" cy="4648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38100">
            <a:solidFill>
              <a:srgbClr val="2E8B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Card4 Bar"/>
          <p:cNvSpPr>
            <a:spLocks noGrp="1"/>
          </p:cNvSpPr>
          <p:nvPr/>
        </p:nvSpPr>
        <p:spPr>
          <a:xfrm>
            <a:off x="12268938" y="5334000"/>
            <a:ext cx="5715000" cy="3429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Card4 Content"/>
          <p:cNvSpPr txBox="1"/>
          <p:nvPr/>
        </p:nvSpPr>
        <p:spPr>
          <a:xfrm>
            <a:off x="12497435" y="5344160"/>
            <a:ext cx="5259070" cy="4562475"/>
          </a:xfrm>
          <a:prstGeom prst="rect">
            <a:avLst/>
          </a:prstGeom>
          <a:noFill/>
        </p:spPr>
        <p:txBody>
          <a:bodyPr/>
          <a:lstStyle/>
          <a:p>
            <a:r>
              <a:rPr lang="fr-FR" sz="2000" b="1">
                <a:solidFill>
                  <a:srgbClr val="FFD700"/>
                </a:solidFill>
                <a:latin typeface="Californian FB" panose="0207040306080B030204" charset="0"/>
                <a:cs typeface="Californian FB" panose="0207040306080B030204" charset="0"/>
              </a:rPr>
              <a:t>Notre solution pour lui</a:t>
            </a:r>
          </a:p>
          <a:p>
            <a:endParaRPr lang="fr-FR" sz="1200"/>
          </a:p>
          <a:p>
            <a:r>
              <a:rPr lang="fr-FR" sz="2400" b="1">
                <a:solidFill>
                  <a:srgbClr val="2E8B57"/>
                </a:solidFill>
                <a:latin typeface="Berlin Sans FB Demi" panose="020E0802020502020306" charset="0"/>
                <a:cs typeface="Berlin Sans FB Demi" panose="020E0802020502020306" charset="0"/>
              </a:rPr>
              <a:t>Solaris Lux — 249 DH</a:t>
            </a:r>
          </a:p>
          <a:p>
            <a:r>
              <a:rPr lang="fr-FR" sz="2400">
                <a:solidFill>
                  <a:srgbClr val="CADCFC"/>
                </a:solidFill>
                <a:latin typeface="Berlin Sans FB Demi" panose="020E0802020502020306" charset="0"/>
                <a:cs typeface="Berlin Sans FB Demi" panose="020E0802020502020306" charset="0"/>
              </a:rPr>
              <a:t>Recharge solaire sans fil, pocket-size.</a:t>
            </a:r>
          </a:p>
          <a:p>
            <a:endParaRPr lang="fr-FR" sz="2400">
              <a:latin typeface="Berlin Sans FB Demi" panose="020E0802020502020306" charset="0"/>
              <a:cs typeface="Berlin Sans FB Demi" panose="020E0802020502020306" charset="0"/>
            </a:endParaRPr>
          </a:p>
          <a:p>
            <a:r>
              <a:rPr lang="fr-FR" sz="2400" b="1">
                <a:solidFill>
                  <a:srgbClr val="2E8B57"/>
                </a:solidFill>
                <a:latin typeface="Berlin Sans FB Demi" panose="020E0802020502020306" charset="0"/>
                <a:cs typeface="Berlin Sans FB Demi" panose="020E0802020502020306" charset="0"/>
              </a:rPr>
              <a:t>Kiosque — 2 DH/heure</a:t>
            </a:r>
          </a:p>
          <a:p>
            <a:r>
              <a:rPr lang="fr-FR" sz="2400">
                <a:solidFill>
                  <a:srgbClr val="CADCFC"/>
                </a:solidFill>
                <a:latin typeface="Berlin Sans FB Demi" panose="020E0802020502020306" charset="0"/>
                <a:cs typeface="Berlin Sans FB Demi" panose="020E0802020502020306" charset="0"/>
              </a:rPr>
              <a:t>Recharge ISTA sans avoir de powerbank.</a:t>
            </a:r>
          </a:p>
          <a:p>
            <a:endParaRPr lang="fr-FR" sz="2400">
              <a:latin typeface="Berlin Sans FB Demi" panose="020E0802020502020306" charset="0"/>
              <a:cs typeface="Berlin Sans FB Demi" panose="020E0802020502020306" charset="0"/>
            </a:endParaRPr>
          </a:p>
          <a:p>
            <a:r>
              <a:rPr lang="fr-FR" sz="2400" b="1">
                <a:solidFill>
                  <a:srgbClr val="FFD700"/>
                </a:solidFill>
                <a:latin typeface="Berlin Sans FB Demi" panose="020E0802020502020306" charset="0"/>
                <a:cs typeface="Berlin Sans FB Demi" panose="020E0802020502020306" charset="0"/>
              </a:rPr>
              <a:t>Garantie 2 ans + Support WhatsApp</a:t>
            </a:r>
          </a:p>
        </p:txBody>
      </p:sp>
    </p:spTree>
    <p:extLst>
      <p:ext uri="{BB962C8B-B14F-4D97-AF65-F5344CB8AC3E}">
        <p14:creationId xmlns:p14="http://schemas.microsoft.com/office/powerpoint/2010/main" val="3066265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B9DB51-8540-877A-D947-555B79D81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Ellipse 47">
            <a:extLst>
              <a:ext uri="{FF2B5EF4-FFF2-40B4-BE49-F238E27FC236}">
                <a16:creationId xmlns:a16="http://schemas.microsoft.com/office/drawing/2014/main" id="{A9AE5EA3-6EC0-B466-C09D-43CA6FAF214D}"/>
              </a:ext>
            </a:extLst>
          </p:cNvPr>
          <p:cNvSpPr/>
          <p:nvPr/>
        </p:nvSpPr>
        <p:spPr>
          <a:xfrm>
            <a:off x="29308" y="419100"/>
            <a:ext cx="5257800" cy="4572000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754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" y="0"/>
            <a:ext cx="18287543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501636C-D02A-BBE5-4646-CAD80B75F786}"/>
              </a:ext>
            </a:extLst>
          </p:cNvPr>
          <p:cNvSpPr txBox="1"/>
          <p:nvPr/>
        </p:nvSpPr>
        <p:spPr>
          <a:xfrm>
            <a:off x="440200" y="852299"/>
            <a:ext cx="15961131" cy="11637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Identité</a:t>
            </a:r>
            <a:r>
              <a:rPr lang="en-US" sz="6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 xml:space="preserve"> </a:t>
            </a:r>
            <a:r>
              <a:rPr lang="en-US" sz="60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Visuelle</a:t>
            </a:r>
            <a:r>
              <a:rPr lang="en-US" sz="6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 xml:space="preserve"> : </a:t>
            </a:r>
            <a:r>
              <a:rPr lang="en-US" sz="60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Énergie</a:t>
            </a:r>
            <a:r>
              <a:rPr lang="en-US" sz="6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 xml:space="preserve"> &amp; Technologie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0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8" name="Group 14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4515120" y="-1"/>
            <a:ext cx="3772422" cy="3261500"/>
            <a:chOff x="-305" y="-4155"/>
            <a:chExt cx="2514948" cy="2174333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6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: Shape 18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Image 5"/>
          <p:cNvPicPr/>
          <p:nvPr/>
        </p:nvPicPr>
        <p:blipFill>
          <a:blip r:embed="rId2"/>
          <a:stretch>
            <a:fillRect/>
          </a:stretch>
        </p:blipFill>
        <p:spPr>
          <a:xfrm>
            <a:off x="5087973" y="2677284"/>
            <a:ext cx="7807065" cy="425485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457" y="6484318"/>
            <a:ext cx="5067641" cy="3802682"/>
            <a:chOff x="-305" y="-1"/>
            <a:chExt cx="3832880" cy="2876136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BBEC0A88-1289-063A-885C-80FE4DBA5E24}"/>
              </a:ext>
            </a:extLst>
          </p:cNvPr>
          <p:cNvSpPr txBox="1"/>
          <p:nvPr/>
        </p:nvSpPr>
        <p:spPr>
          <a:xfrm>
            <a:off x="13646732" y="6696902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F0B928"/>
                </a:solidFill>
                <a:latin typeface="Cascadia Code" panose="020B0609020000020004" charset="0"/>
                <a:cs typeface="Cascadia Code" panose="020B0609020000020004" charset="0"/>
              </a:rPr>
              <a:t>Palette de Couleurs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3157866" y="8292664"/>
            <a:ext cx="897160" cy="878794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3157866" y="9301975"/>
            <a:ext cx="876040" cy="928382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13152004" y="7246621"/>
            <a:ext cx="876040" cy="915526"/>
          </a:xfrm>
          <a:prstGeom prst="rect">
            <a:avLst/>
          </a:prstGeom>
        </p:spPr>
      </p:pic>
      <p:cxnSp>
        <p:nvCxnSpPr>
          <p:cNvPr id="14" name="Connecteur droit 13"/>
          <p:cNvCxnSpPr>
            <a:cxnSpLocks/>
          </p:cNvCxnSpPr>
          <p:nvPr/>
        </p:nvCxnSpPr>
        <p:spPr>
          <a:xfrm>
            <a:off x="14028044" y="7193623"/>
            <a:ext cx="3650356" cy="11022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5231F4EA-3892-CFE0-8D5F-7FE2E3C7A066}"/>
              </a:ext>
            </a:extLst>
          </p:cNvPr>
          <p:cNvSpPr txBox="1"/>
          <p:nvPr/>
        </p:nvSpPr>
        <p:spPr>
          <a:xfrm>
            <a:off x="14055026" y="7778001"/>
            <a:ext cx="1127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#FFD700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CF0CCF4F-BF65-5639-104C-17EAEAD21F63}"/>
              </a:ext>
            </a:extLst>
          </p:cNvPr>
          <p:cNvSpPr txBox="1"/>
          <p:nvPr/>
        </p:nvSpPr>
        <p:spPr>
          <a:xfrm>
            <a:off x="14054110" y="7448004"/>
            <a:ext cx="12660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>
                <a:latin typeface="Bookman Old Style" panose="02050604050505020204" charset="0"/>
                <a:cs typeface="Bookman Old Style" panose="02050604050505020204" charset="0"/>
              </a:rPr>
              <a:t>Jaune Solaire</a:t>
            </a:r>
            <a:endParaRPr lang="fr-FR" dirty="0"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084EB5A3-840A-BA58-33A2-ACF00B515CE6}"/>
              </a:ext>
            </a:extLst>
          </p:cNvPr>
          <p:cNvSpPr txBox="1"/>
          <p:nvPr/>
        </p:nvSpPr>
        <p:spPr>
          <a:xfrm>
            <a:off x="14054110" y="8310800"/>
            <a:ext cx="13352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Bookman Old Style" panose="02050604050505020204" charset="0"/>
                <a:cs typeface="Bookman Old Style" panose="02050604050505020204" charset="0"/>
              </a:rPr>
              <a:t>Bleu Nuit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1C1A123E-F56F-800B-BDF2-C23C3B2F86EE}"/>
              </a:ext>
            </a:extLst>
          </p:cNvPr>
          <p:cNvSpPr txBox="1"/>
          <p:nvPr/>
        </p:nvSpPr>
        <p:spPr>
          <a:xfrm>
            <a:off x="14028044" y="8733130"/>
            <a:ext cx="13704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latin typeface="Bookman Old Style" panose="02050604050505020204" charset="0"/>
                <a:cs typeface="Bookman Old Style" panose="02050604050505020204" charset="0"/>
              </a:rPr>
              <a:t>#0D47A1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5EACB7B-ACE7-C11C-FBD1-D9023D780396}"/>
              </a:ext>
            </a:extLst>
          </p:cNvPr>
          <p:cNvSpPr txBox="1"/>
          <p:nvPr/>
        </p:nvSpPr>
        <p:spPr>
          <a:xfrm>
            <a:off x="14045629" y="9445857"/>
            <a:ext cx="1386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Bookman Old Style" panose="02050604050505020204" charset="0"/>
                <a:cs typeface="Bookman Old Style" panose="02050604050505020204" charset="0"/>
              </a:rPr>
              <a:t>Gris Anthracite</a:t>
            </a:r>
          </a:p>
        </p:txBody>
      </p:sp>
      <p:sp>
        <p:nvSpPr>
          <p:cNvPr id="41" name="Zone de texte 16"/>
          <p:cNvSpPr txBox="1"/>
          <p:nvPr/>
        </p:nvSpPr>
        <p:spPr>
          <a:xfrm>
            <a:off x="14045629" y="9807216"/>
            <a:ext cx="5080000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dirty="0">
                <a:latin typeface="Bookman Old Style" panose="02050604050505020204" charset="0"/>
                <a:cs typeface="Bookman Old Style" panose="02050604050505020204" charset="0"/>
              </a:rPr>
              <a:t>#37474F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21FBA69E-49E7-FF48-E66E-B77C8C2F0B1E}"/>
              </a:ext>
            </a:extLst>
          </p:cNvPr>
          <p:cNvSpPr txBox="1"/>
          <p:nvPr/>
        </p:nvSpPr>
        <p:spPr>
          <a:xfrm>
            <a:off x="365894" y="1831403"/>
            <a:ext cx="13962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Bookman Old Style" panose="02050604050505020204" charset="0"/>
                <a:cs typeface="Bookman Old Style" panose="02050604050505020204" charset="0"/>
              </a:rPr>
              <a:t>Énergie · Pureté · Technologie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6A171EC5-936D-157C-D4A1-7844B1510DE5}"/>
              </a:ext>
            </a:extLst>
          </p:cNvPr>
          <p:cNvSpPr txBox="1"/>
          <p:nvPr/>
        </p:nvSpPr>
        <p:spPr>
          <a:xfrm>
            <a:off x="405031" y="2348840"/>
            <a:ext cx="4823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latin typeface="Bookman Old Style" panose="02050604050505020204" charset="0"/>
                <a:cs typeface="Bookman Old Style" panose="02050604050505020204" charset="0"/>
              </a:rPr>
              <a:t xml:space="preserve">L'identité de </a:t>
            </a:r>
            <a:r>
              <a:rPr lang="fr-FR" sz="1800" dirty="0" err="1">
                <a:latin typeface="Bookman Old Style" panose="02050604050505020204" charset="0"/>
                <a:cs typeface="Bookman Old Style" panose="02050604050505020204" charset="0"/>
              </a:rPr>
              <a:t>SolarisLux</a:t>
            </a:r>
            <a:r>
              <a:rPr lang="fr-FR" sz="1800" dirty="0">
                <a:latin typeface="Bookman Old Style" panose="02050604050505020204" charset="0"/>
                <a:cs typeface="Bookman Old Style" panose="02050604050505020204" charset="0"/>
              </a:rPr>
              <a:t xml:space="preserve"> associe le bleu nuit et le jaune solaire — deux couleurs qui traduisent directement notre mission : capter l'énergie du soleil, la rendre accessible.</a:t>
            </a:r>
          </a:p>
        </p:txBody>
      </p: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7C45F7CF-C77C-AF85-2CA8-9531B3FDA34E}"/>
              </a:ext>
            </a:extLst>
          </p:cNvPr>
          <p:cNvCxnSpPr>
            <a:cxnSpLocks/>
          </p:cNvCxnSpPr>
          <p:nvPr/>
        </p:nvCxnSpPr>
        <p:spPr>
          <a:xfrm>
            <a:off x="594183" y="2160969"/>
            <a:ext cx="3056900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622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4650998" y="0"/>
            <a:ext cx="8925044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D47A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 xml:space="preserve">Nos Solutions 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6519" y="2552700"/>
            <a:ext cx="11738046" cy="22636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sz="2621" dirty="0">
                <a:solidFill>
                  <a:srgbClr val="60B024"/>
                </a:solidFill>
                <a:latin typeface="Open Sans"/>
                <a:ea typeface="Open Sans"/>
                <a:cs typeface="Open Sans"/>
                <a:sym typeface="Open Sans"/>
              </a:rPr>
              <a:t>1. Station de recharge (</a:t>
            </a:r>
            <a:r>
              <a:rPr lang="en-US" sz="2621" dirty="0" err="1">
                <a:solidFill>
                  <a:srgbClr val="60B024"/>
                </a:solidFill>
                <a:latin typeface="Open Sans"/>
                <a:ea typeface="Open Sans"/>
                <a:cs typeface="Open Sans"/>
                <a:sym typeface="Open Sans"/>
              </a:rPr>
              <a:t>Kiosque</a:t>
            </a:r>
            <a:r>
              <a:rPr lang="en-US" sz="2621" dirty="0">
                <a:solidFill>
                  <a:srgbClr val="60B024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</a:p>
          <a:p>
            <a:pPr marL="565921" lvl="1" indent="-282961" algn="l">
              <a:lnSpc>
                <a:spcPts val="3669"/>
              </a:lnSpc>
              <a:buFont typeface="Arial"/>
              <a:buChar char="•"/>
            </a:pPr>
            <a:r>
              <a:rPr lang="en-US" sz="262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Recharge accessible à </a:t>
            </a:r>
            <a:r>
              <a:rPr lang="en-US" sz="262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tous</a:t>
            </a:r>
            <a:r>
              <a:rPr lang="en-US" sz="262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sur ISTA </a:t>
            </a:r>
            <a:r>
              <a:rPr lang="en-US" sz="262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Témara</a:t>
            </a:r>
            <a:r>
              <a:rPr lang="en-US" sz="262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565921" lvl="1" indent="-282961" algn="l">
              <a:lnSpc>
                <a:spcPts val="3669"/>
              </a:lnSpc>
              <a:buFont typeface="Arial"/>
              <a:buChar char="•"/>
            </a:pPr>
            <a:r>
              <a:rPr lang="en-US" sz="262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Prix simple : 2 DH / </a:t>
            </a:r>
            <a:r>
              <a:rPr lang="en-US" sz="262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heure</a:t>
            </a:r>
            <a:endParaRPr lang="en-US" sz="2621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65921" lvl="1" indent="-282961" algn="l">
              <a:lnSpc>
                <a:spcPts val="3669"/>
              </a:lnSpc>
              <a:buFont typeface="Arial"/>
              <a:buChar char="•"/>
            </a:pPr>
            <a:r>
              <a:rPr lang="en-US" sz="262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Pas </a:t>
            </a:r>
            <a:r>
              <a:rPr lang="en-US" sz="262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besoin</a:t>
            </a:r>
            <a:r>
              <a:rPr lang="en-US" sz="262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de </a:t>
            </a:r>
            <a:r>
              <a:rPr lang="en-US" sz="262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prise</a:t>
            </a:r>
            <a:r>
              <a:rPr lang="en-US" sz="262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</a:t>
            </a:r>
            <a:r>
              <a:rPr lang="en-US" sz="262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personnelle</a:t>
            </a:r>
            <a:endParaRPr lang="en-US" sz="2621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65921" lvl="1" indent="-282961" algn="l">
              <a:lnSpc>
                <a:spcPts val="3669"/>
              </a:lnSpc>
              <a:buFont typeface="Arial"/>
              <a:buChar char="•"/>
            </a:pPr>
            <a:r>
              <a:rPr lang="en-US" sz="262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Solution </a:t>
            </a:r>
            <a:r>
              <a:rPr lang="en-US" sz="262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rapide</a:t>
            </a:r>
            <a:r>
              <a:rPr lang="en-US" sz="262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et pratique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68200" y="2434232"/>
            <a:ext cx="11738046" cy="27092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sz="2619" dirty="0">
                <a:solidFill>
                  <a:srgbClr val="60B024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2. </a:t>
            </a:r>
            <a:r>
              <a:rPr lang="en-US" sz="2619" dirty="0" err="1">
                <a:solidFill>
                  <a:srgbClr val="60B024"/>
                </a:solidFill>
                <a:latin typeface="Open Sans"/>
                <a:ea typeface="Open Sans"/>
                <a:cs typeface="Open Sans"/>
                <a:sym typeface="Open Sans"/>
              </a:rPr>
              <a:t>Powerbank</a:t>
            </a:r>
            <a:r>
              <a:rPr lang="en-US" sz="2619" dirty="0">
                <a:solidFill>
                  <a:srgbClr val="60B024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Solaris Lux</a:t>
            </a:r>
          </a:p>
          <a:p>
            <a:pPr marL="565657" lvl="1" indent="-282829" algn="l">
              <a:lnSpc>
                <a:spcPts val="3667"/>
              </a:lnSpc>
              <a:buFont typeface="Arial"/>
              <a:buChar char="•"/>
            </a:pPr>
            <a:r>
              <a:rPr lang="en-US" sz="261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Powerbank</a:t>
            </a:r>
            <a:r>
              <a:rPr lang="en-US" sz="261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</a:t>
            </a:r>
            <a:r>
              <a:rPr lang="en-US" sz="261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solaire</a:t>
            </a:r>
            <a:r>
              <a:rPr lang="en-US" sz="261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portable</a:t>
            </a:r>
          </a:p>
          <a:p>
            <a:pPr marL="565657" lvl="1" indent="-282829" algn="l">
              <a:lnSpc>
                <a:spcPts val="3667"/>
              </a:lnSpc>
              <a:buFont typeface="Arial"/>
              <a:buChar char="•"/>
            </a:pPr>
            <a:r>
              <a:rPr lang="en-US" sz="261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Recharge sans </a:t>
            </a:r>
            <a:r>
              <a:rPr lang="en-US" sz="261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câble</a:t>
            </a:r>
            <a:r>
              <a:rPr lang="en-US" sz="261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(sans-fil)</a:t>
            </a:r>
          </a:p>
          <a:p>
            <a:pPr marL="565657" lvl="1" indent="-282829" algn="l">
              <a:lnSpc>
                <a:spcPts val="3667"/>
              </a:lnSpc>
              <a:buFont typeface="Arial"/>
              <a:buChar char="•"/>
            </a:pPr>
            <a:r>
              <a:rPr lang="en-US" sz="261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Facile à transporter (poche)</a:t>
            </a:r>
          </a:p>
          <a:p>
            <a:pPr marL="565657" lvl="1" indent="-282829" algn="l">
              <a:lnSpc>
                <a:spcPts val="3667"/>
              </a:lnSpc>
              <a:buFont typeface="Arial"/>
              <a:buChar char="•"/>
            </a:pPr>
            <a:r>
              <a:rPr lang="en-US" sz="261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Prix </a:t>
            </a:r>
            <a:r>
              <a:rPr lang="en-US" sz="261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étudiant</a:t>
            </a:r>
            <a:r>
              <a:rPr lang="en-US" sz="261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: 249 DH</a:t>
            </a:r>
          </a:p>
          <a:p>
            <a:pPr algn="ctr">
              <a:lnSpc>
                <a:spcPts val="2574"/>
              </a:lnSpc>
            </a:pPr>
            <a:endParaRPr lang="en-US" sz="2619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845542" y="6278246"/>
            <a:ext cx="6085165" cy="2740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60B024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3. Vente </a:t>
            </a:r>
            <a:r>
              <a:rPr lang="en-US" sz="2600" dirty="0" err="1">
                <a:solidFill>
                  <a:srgbClr val="60B024"/>
                </a:solidFill>
                <a:latin typeface="Open Sans"/>
                <a:ea typeface="Open Sans"/>
                <a:cs typeface="Open Sans"/>
                <a:sym typeface="Open Sans"/>
              </a:rPr>
              <a:t>d’accessoires</a:t>
            </a:r>
            <a:endParaRPr lang="en-US" sz="2600" dirty="0">
              <a:solidFill>
                <a:srgbClr val="60B02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80671" lvl="1" algn="l">
              <a:lnSpc>
                <a:spcPts val="3640"/>
              </a:lnSpc>
            </a:pP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a. </a:t>
            </a:r>
            <a:r>
              <a:rPr lang="en-US" sz="2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Câble</a:t>
            </a: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USB-C (charge </a:t>
            </a:r>
            <a:r>
              <a:rPr lang="en-US" sz="2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rapide</a:t>
            </a: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</a:p>
          <a:p>
            <a:pPr marL="280671" lvl="1" algn="l">
              <a:lnSpc>
                <a:spcPts val="3640"/>
              </a:lnSpc>
            </a:pP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b. Support </a:t>
            </a:r>
            <a:r>
              <a:rPr lang="en-US" sz="2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téléphone</a:t>
            </a: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(bureau)</a:t>
            </a:r>
          </a:p>
          <a:p>
            <a:pPr marL="280671" lvl="1" algn="l">
              <a:lnSpc>
                <a:spcPts val="3640"/>
              </a:lnSpc>
            </a:pP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c. </a:t>
            </a:r>
            <a:r>
              <a:rPr lang="en-US" sz="2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Adaptateur</a:t>
            </a: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charge </a:t>
            </a:r>
            <a:r>
              <a:rPr lang="en-US" sz="2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rapide</a:t>
            </a:r>
            <a:endParaRPr lang="en-US" sz="2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Produits</a:t>
            </a: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de </a:t>
            </a:r>
            <a:r>
              <a:rPr lang="en-US" sz="2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qualité</a:t>
            </a:r>
            <a:r>
              <a:rPr lang="en-US" sz="2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à prix </a:t>
            </a:r>
            <a:r>
              <a:rPr lang="en-US" sz="2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abordable</a:t>
            </a:r>
            <a:endParaRPr lang="en-US" sz="2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1E91B248-C810-3831-9FC4-A58DBA81C12D}"/>
              </a:ext>
            </a:extLst>
          </p:cNvPr>
          <p:cNvSpPr txBox="1"/>
          <p:nvPr/>
        </p:nvSpPr>
        <p:spPr>
          <a:xfrm>
            <a:off x="218956" y="-171450"/>
            <a:ext cx="8925044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D47A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 xml:space="preserve">Nos </a:t>
            </a:r>
            <a:r>
              <a:rPr lang="en-US" sz="9200" b="1" dirty="0" err="1">
                <a:solidFill>
                  <a:srgbClr val="0D47A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produits</a:t>
            </a:r>
            <a:r>
              <a:rPr lang="en-US" sz="9200" b="1" dirty="0">
                <a:solidFill>
                  <a:srgbClr val="0D47A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 xml:space="preserve"> : </a:t>
            </a:r>
          </a:p>
        </p:txBody>
      </p:sp>
      <p:sp>
        <p:nvSpPr>
          <p:cNvPr id="5" name="Freeform 5"/>
          <p:cNvSpPr/>
          <p:nvPr/>
        </p:nvSpPr>
        <p:spPr>
          <a:xfrm>
            <a:off x="10653246" y="3771900"/>
            <a:ext cx="3215153" cy="2248553"/>
          </a:xfrm>
          <a:custGeom>
            <a:avLst/>
            <a:gdLst/>
            <a:ahLst/>
            <a:cxnLst/>
            <a:rect l="l" t="t" r="r" b="b"/>
            <a:pathLst>
              <a:path w="3215153" h="2912983">
                <a:moveTo>
                  <a:pt x="0" y="0"/>
                </a:moveTo>
                <a:lnTo>
                  <a:pt x="3215152" y="0"/>
                </a:lnTo>
                <a:lnTo>
                  <a:pt x="3215152" y="2912982"/>
                </a:lnTo>
                <a:lnTo>
                  <a:pt x="0" y="2912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24" t="-21957" b="-8309"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4" name="Freeform 4"/>
          <p:cNvSpPr/>
          <p:nvPr/>
        </p:nvSpPr>
        <p:spPr>
          <a:xfrm>
            <a:off x="10653246" y="6020455"/>
            <a:ext cx="3215151" cy="2133271"/>
          </a:xfrm>
          <a:custGeom>
            <a:avLst/>
            <a:gdLst/>
            <a:ahLst/>
            <a:cxnLst/>
            <a:rect l="l" t="t" r="r" b="b"/>
            <a:pathLst>
              <a:path w="3215153" h="2788175">
                <a:moveTo>
                  <a:pt x="0" y="0"/>
                </a:moveTo>
                <a:lnTo>
                  <a:pt x="3215152" y="0"/>
                </a:lnTo>
                <a:lnTo>
                  <a:pt x="3215152" y="2788175"/>
                </a:lnTo>
                <a:lnTo>
                  <a:pt x="0" y="2788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948" r="-9499" b="-19319"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3" name="Freeform 3"/>
          <p:cNvSpPr/>
          <p:nvPr/>
        </p:nvSpPr>
        <p:spPr>
          <a:xfrm>
            <a:off x="10653246" y="8161349"/>
            <a:ext cx="3215153" cy="2133271"/>
          </a:xfrm>
          <a:custGeom>
            <a:avLst/>
            <a:gdLst/>
            <a:ahLst/>
            <a:cxnLst/>
            <a:rect l="l" t="t" r="r" b="b"/>
            <a:pathLst>
              <a:path w="3215153" h="3024414">
                <a:moveTo>
                  <a:pt x="0" y="0"/>
                </a:moveTo>
                <a:lnTo>
                  <a:pt x="3215152" y="0"/>
                </a:lnTo>
                <a:lnTo>
                  <a:pt x="3215152" y="3024414"/>
                </a:lnTo>
                <a:lnTo>
                  <a:pt x="0" y="3024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836" t="-22570" r="-21327" b="-2749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2"/>
          <p:cNvSpPr/>
          <p:nvPr/>
        </p:nvSpPr>
        <p:spPr>
          <a:xfrm>
            <a:off x="13868399" y="3771900"/>
            <a:ext cx="4419601" cy="6515100"/>
          </a:xfrm>
          <a:custGeom>
            <a:avLst/>
            <a:gdLst/>
            <a:ahLst/>
            <a:cxnLst/>
            <a:rect l="l" t="t" r="r" b="b"/>
            <a:pathLst>
              <a:path w="6139321" h="10287000">
                <a:moveTo>
                  <a:pt x="0" y="0"/>
                </a:moveTo>
                <a:lnTo>
                  <a:pt x="6139321" y="0"/>
                </a:lnTo>
                <a:lnTo>
                  <a:pt x="613932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03" t="-2591" r="-1312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3"/>
          <p:cNvSpPr/>
          <p:nvPr/>
        </p:nvSpPr>
        <p:spPr>
          <a:xfrm>
            <a:off x="0" y="3771900"/>
            <a:ext cx="10653244" cy="6515100"/>
          </a:xfrm>
          <a:custGeom>
            <a:avLst/>
            <a:gdLst/>
            <a:ahLst/>
            <a:cxnLst/>
            <a:rect l="l" t="t" r="r" b="b"/>
            <a:pathLst>
              <a:path w="9778602" h="7998121">
                <a:moveTo>
                  <a:pt x="0" y="0"/>
                </a:moveTo>
                <a:lnTo>
                  <a:pt x="9778602" y="0"/>
                </a:lnTo>
                <a:lnTo>
                  <a:pt x="9778602" y="7998121"/>
                </a:lnTo>
                <a:lnTo>
                  <a:pt x="0" y="79981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327" t="-18883" b="-744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10C22-D89C-F887-B61F-F8BDBEC3BD0B}"/>
              </a:ext>
            </a:extLst>
          </p:cNvPr>
          <p:cNvSpPr/>
          <p:nvPr/>
        </p:nvSpPr>
        <p:spPr>
          <a:xfrm>
            <a:off x="218956" y="2773897"/>
            <a:ext cx="1787368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fr-FR" sz="5400" dirty="0">
                <a:solidFill>
                  <a:srgbClr val="00B0F0"/>
                </a:solidFill>
              </a:rPr>
              <a:t xml:space="preserve">       SmartCharge V1                               accessoires          Kiosque</a:t>
            </a:r>
          </a:p>
        </p:txBody>
      </p:sp>
    </p:spTree>
    <p:extLst>
      <p:ext uri="{BB962C8B-B14F-4D97-AF65-F5344CB8AC3E}">
        <p14:creationId xmlns:p14="http://schemas.microsoft.com/office/powerpoint/2010/main" val="2842021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19600" y="165113"/>
            <a:ext cx="8535037" cy="863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i="1" dirty="0" err="1">
                <a:solidFill>
                  <a:srgbClr val="B7720D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Modèle</a:t>
            </a:r>
            <a:r>
              <a:rPr lang="en-US" sz="5000" b="1" i="1" dirty="0">
                <a:solidFill>
                  <a:srgbClr val="B7720D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 xml:space="preserve"> Économique (BMC)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64525" y="1564984"/>
            <a:ext cx="5194262" cy="2237989"/>
            <a:chOff x="0" y="0"/>
            <a:chExt cx="1368036" cy="5894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68036" cy="589429"/>
            </a:xfrm>
            <a:custGeom>
              <a:avLst/>
              <a:gdLst/>
              <a:ahLst/>
              <a:cxnLst/>
              <a:rect l="l" t="t" r="r" b="b"/>
              <a:pathLst>
                <a:path w="1368036" h="589429">
                  <a:moveTo>
                    <a:pt x="0" y="0"/>
                  </a:moveTo>
                  <a:lnTo>
                    <a:pt x="1368036" y="0"/>
                  </a:lnTo>
                  <a:lnTo>
                    <a:pt x="1368036" y="589429"/>
                  </a:lnTo>
                  <a:lnTo>
                    <a:pt x="0" y="589429"/>
                  </a:lnTo>
                  <a:close/>
                </a:path>
              </a:pathLst>
            </a:custGeom>
            <a:solidFill>
              <a:srgbClr val="B7720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68036" cy="637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 dirty="0">
                  <a:solidFill>
                    <a:srgbClr val="0D47A1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Segments Clients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dirty="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Étudiants</a:t>
              </a:r>
              <a:r>
                <a:rPr lang="en-US" sz="2499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ISTA </a:t>
              </a:r>
              <a:r>
                <a:rPr lang="en-US" sz="2499" dirty="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Témara</a:t>
              </a:r>
              <a:endParaRPr lang="en-US" sz="24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</a:t>
              </a:r>
              <a:r>
                <a:rPr lang="en-US" sz="2499" dirty="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Formateurs</a:t>
              </a:r>
              <a:r>
                <a:rPr lang="en-US" sz="2499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64525" y="4085085"/>
            <a:ext cx="5194262" cy="2402580"/>
            <a:chOff x="0" y="0"/>
            <a:chExt cx="1368036" cy="6327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8036" cy="632778"/>
            </a:xfrm>
            <a:custGeom>
              <a:avLst/>
              <a:gdLst/>
              <a:ahLst/>
              <a:cxnLst/>
              <a:rect l="l" t="t" r="r" b="b"/>
              <a:pathLst>
                <a:path w="1368036" h="632778">
                  <a:moveTo>
                    <a:pt x="25338" y="0"/>
                  </a:moveTo>
                  <a:lnTo>
                    <a:pt x="1342698" y="0"/>
                  </a:lnTo>
                  <a:cubicBezTo>
                    <a:pt x="1356692" y="0"/>
                    <a:pt x="1368036" y="11344"/>
                    <a:pt x="1368036" y="25338"/>
                  </a:cubicBezTo>
                  <a:lnTo>
                    <a:pt x="1368036" y="607440"/>
                  </a:lnTo>
                  <a:cubicBezTo>
                    <a:pt x="1368036" y="621434"/>
                    <a:pt x="1356692" y="632778"/>
                    <a:pt x="1342698" y="632778"/>
                  </a:cubicBezTo>
                  <a:lnTo>
                    <a:pt x="25338" y="632778"/>
                  </a:lnTo>
                  <a:cubicBezTo>
                    <a:pt x="11344" y="632778"/>
                    <a:pt x="0" y="621434"/>
                    <a:pt x="0" y="607440"/>
                  </a:cubicBezTo>
                  <a:lnTo>
                    <a:pt x="0" y="25338"/>
                  </a:lnTo>
                  <a:cubicBezTo>
                    <a:pt x="0" y="11344"/>
                    <a:pt x="11344" y="0"/>
                    <a:pt x="25338" y="0"/>
                  </a:cubicBezTo>
                  <a:close/>
                </a:path>
              </a:pathLst>
            </a:custGeom>
            <a:solidFill>
              <a:srgbClr val="B7720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368036" cy="680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 dirty="0">
                  <a:solidFill>
                    <a:srgbClr val="0D47A1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 xml:space="preserve">Proposition de </a:t>
              </a:r>
              <a:r>
                <a:rPr lang="en-US" sz="2499" b="1" dirty="0" err="1">
                  <a:solidFill>
                    <a:srgbClr val="0D47A1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valeur</a:t>
              </a:r>
              <a:endParaRPr lang="en-US" sz="2499" b="1" dirty="0">
                <a:solidFill>
                  <a:srgbClr val="0D47A1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algn="ctr">
                <a:lnSpc>
                  <a:spcPts val="2939"/>
                </a:lnSpc>
              </a:pPr>
              <a:r>
                <a:rPr lang="en-US" sz="2099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Recharge facile sur ISTA</a:t>
              </a:r>
            </a:p>
            <a:p>
              <a:pPr algn="ctr">
                <a:lnSpc>
                  <a:spcPts val="2939"/>
                </a:lnSpc>
              </a:pPr>
              <a:r>
                <a:rPr lang="en-US" sz="2099" dirty="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Powerbank</a:t>
              </a:r>
              <a:r>
                <a:rPr lang="en-US" sz="2099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</a:t>
              </a:r>
              <a:r>
                <a:rPr lang="en-US" sz="2099" dirty="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solaire</a:t>
              </a:r>
              <a:r>
                <a:rPr lang="en-US" sz="2099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pratique</a:t>
              </a:r>
            </a:p>
            <a:p>
              <a:pPr algn="ctr">
                <a:lnSpc>
                  <a:spcPts val="2939"/>
                </a:lnSpc>
              </a:pPr>
              <a:r>
                <a:rPr lang="en-US" sz="2099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          </a:t>
              </a:r>
              <a:r>
                <a:rPr lang="en-US" sz="2099" dirty="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Produits</a:t>
              </a:r>
              <a:r>
                <a:rPr lang="en-US" sz="2099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de </a:t>
              </a:r>
              <a:r>
                <a:rPr lang="en-US" sz="2099" dirty="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qualité</a:t>
              </a:r>
              <a:r>
                <a:rPr lang="en-US" sz="2099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à prix </a:t>
              </a:r>
              <a:r>
                <a:rPr lang="en-US" sz="2099" dirty="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étudiant</a:t>
              </a:r>
              <a:endParaRPr lang="en-US" sz="20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ctr">
                <a:lnSpc>
                  <a:spcPts val="2939"/>
                </a:lnSpc>
              </a:pPr>
              <a:endParaRPr lang="en-US" sz="20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64525" y="6735315"/>
            <a:ext cx="5194262" cy="2675456"/>
            <a:chOff x="0" y="0"/>
            <a:chExt cx="1368036" cy="7046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8036" cy="704647"/>
            </a:xfrm>
            <a:custGeom>
              <a:avLst/>
              <a:gdLst/>
              <a:ahLst/>
              <a:cxnLst/>
              <a:rect l="l" t="t" r="r" b="b"/>
              <a:pathLst>
                <a:path w="1368036" h="704647">
                  <a:moveTo>
                    <a:pt x="25338" y="0"/>
                  </a:moveTo>
                  <a:lnTo>
                    <a:pt x="1342698" y="0"/>
                  </a:lnTo>
                  <a:cubicBezTo>
                    <a:pt x="1356692" y="0"/>
                    <a:pt x="1368036" y="11344"/>
                    <a:pt x="1368036" y="25338"/>
                  </a:cubicBezTo>
                  <a:lnTo>
                    <a:pt x="1368036" y="679309"/>
                  </a:lnTo>
                  <a:cubicBezTo>
                    <a:pt x="1368036" y="693303"/>
                    <a:pt x="1356692" y="704647"/>
                    <a:pt x="1342698" y="704647"/>
                  </a:cubicBezTo>
                  <a:lnTo>
                    <a:pt x="25338" y="704647"/>
                  </a:lnTo>
                  <a:cubicBezTo>
                    <a:pt x="11344" y="704647"/>
                    <a:pt x="0" y="693303"/>
                    <a:pt x="0" y="679309"/>
                  </a:cubicBezTo>
                  <a:lnTo>
                    <a:pt x="0" y="25338"/>
                  </a:lnTo>
                  <a:cubicBezTo>
                    <a:pt x="0" y="11344"/>
                    <a:pt x="11344" y="0"/>
                    <a:pt x="25338" y="0"/>
                  </a:cubicBezTo>
                  <a:close/>
                </a:path>
              </a:pathLst>
            </a:custGeom>
            <a:solidFill>
              <a:srgbClr val="B7720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368036" cy="7522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 dirty="0">
                  <a:solidFill>
                    <a:srgbClr val="0D47A1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 xml:space="preserve"> </a:t>
              </a:r>
              <a:r>
                <a:rPr lang="en-US" sz="2499" b="1" dirty="0" err="1">
                  <a:solidFill>
                    <a:srgbClr val="0D47A1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Canaux</a:t>
              </a:r>
              <a:r>
                <a:rPr lang="en-US" sz="2499" b="1" dirty="0">
                  <a:solidFill>
                    <a:srgbClr val="0D47A1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 xml:space="preserve"> de distribution</a:t>
              </a:r>
            </a:p>
            <a:p>
              <a:pPr algn="ctr">
                <a:lnSpc>
                  <a:spcPts val="2939"/>
                </a:lnSpc>
              </a:pPr>
              <a:r>
                <a:rPr lang="en-US" sz="2099" dirty="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Kiosques</a:t>
              </a:r>
              <a:r>
                <a:rPr lang="en-US" sz="2099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sur ISTA</a:t>
              </a:r>
            </a:p>
            <a:p>
              <a:pPr algn="ctr">
                <a:lnSpc>
                  <a:spcPts val="2939"/>
                </a:lnSpc>
              </a:pPr>
              <a:r>
                <a:rPr lang="en-US" sz="2099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Vente </a:t>
              </a:r>
              <a:r>
                <a:rPr lang="en-US" sz="2099" dirty="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directe</a:t>
              </a:r>
              <a:endParaRPr lang="en-US" sz="20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ctr">
                <a:lnSpc>
                  <a:spcPts val="2939"/>
                </a:lnSpc>
              </a:pPr>
              <a:r>
                <a:rPr lang="en-US" sz="2099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Ambassadeurs </a:t>
              </a:r>
              <a:r>
                <a:rPr lang="en-US" sz="2099" dirty="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étudiants</a:t>
              </a:r>
              <a:endParaRPr lang="en-US" sz="20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ctr">
                <a:lnSpc>
                  <a:spcPts val="2939"/>
                </a:lnSpc>
              </a:pPr>
              <a:endParaRPr lang="en-US" sz="20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583217" y="1564984"/>
            <a:ext cx="4782322" cy="2266015"/>
            <a:chOff x="0" y="0"/>
            <a:chExt cx="1259542" cy="5968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59542" cy="596811"/>
            </a:xfrm>
            <a:custGeom>
              <a:avLst/>
              <a:gdLst/>
              <a:ahLst/>
              <a:cxnLst/>
              <a:rect l="l" t="t" r="r" b="b"/>
              <a:pathLst>
                <a:path w="1259542" h="596811">
                  <a:moveTo>
                    <a:pt x="0" y="0"/>
                  </a:moveTo>
                  <a:lnTo>
                    <a:pt x="1259542" y="0"/>
                  </a:lnTo>
                  <a:lnTo>
                    <a:pt x="1259542" y="596811"/>
                  </a:lnTo>
                  <a:lnTo>
                    <a:pt x="0" y="596811"/>
                  </a:lnTo>
                  <a:close/>
                </a:path>
              </a:pathLst>
            </a:custGeom>
            <a:solidFill>
              <a:srgbClr val="B7720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259542" cy="6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D47A1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 xml:space="preserve"> Relation client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Libre-service (kiosque)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Support rapide (WhatsApp)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Garantie 2 ans</a:t>
              </a:r>
            </a:p>
            <a:p>
              <a:pPr algn="ctr">
                <a:lnSpc>
                  <a:spcPts val="3359"/>
                </a:lnSpc>
              </a:pPr>
              <a:endPara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583217" y="4085085"/>
            <a:ext cx="4782322" cy="2402580"/>
            <a:chOff x="0" y="0"/>
            <a:chExt cx="1259542" cy="63277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59542" cy="632778"/>
            </a:xfrm>
            <a:custGeom>
              <a:avLst/>
              <a:gdLst/>
              <a:ahLst/>
              <a:cxnLst/>
              <a:rect l="l" t="t" r="r" b="b"/>
              <a:pathLst>
                <a:path w="1259542" h="632778">
                  <a:moveTo>
                    <a:pt x="0" y="0"/>
                  </a:moveTo>
                  <a:lnTo>
                    <a:pt x="1259542" y="0"/>
                  </a:lnTo>
                  <a:lnTo>
                    <a:pt x="1259542" y="632778"/>
                  </a:lnTo>
                  <a:lnTo>
                    <a:pt x="0" y="632778"/>
                  </a:lnTo>
                  <a:close/>
                </a:path>
              </a:pathLst>
            </a:custGeom>
            <a:solidFill>
              <a:srgbClr val="B7720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259542" cy="680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 dirty="0">
                  <a:solidFill>
                    <a:srgbClr val="0D47A1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 xml:space="preserve">Source de </a:t>
              </a:r>
              <a:r>
                <a:rPr lang="en-US" sz="2499" b="1" dirty="0" err="1">
                  <a:solidFill>
                    <a:srgbClr val="0D47A1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Revenus</a:t>
              </a:r>
              <a:endParaRPr lang="en-US" sz="2499" b="1" dirty="0">
                <a:solidFill>
                  <a:srgbClr val="0D47A1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algn="ctr">
                <a:lnSpc>
                  <a:spcPts val="3079"/>
                </a:lnSpc>
              </a:pPr>
              <a:r>
                <a:rPr lang="en-US" sz="2199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Recharge : 2 DH / </a:t>
              </a:r>
              <a:r>
                <a:rPr lang="en-US" sz="2199" dirty="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heure</a:t>
              </a:r>
              <a:endParaRPr lang="en-US" sz="21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ctr">
                <a:lnSpc>
                  <a:spcPts val="3079"/>
                </a:lnSpc>
              </a:pPr>
              <a:r>
                <a:rPr lang="en-US" sz="2199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Vente </a:t>
              </a:r>
              <a:r>
                <a:rPr lang="en-US" sz="2199" dirty="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powerbank</a:t>
              </a:r>
              <a:r>
                <a:rPr lang="en-US" sz="2199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: 249 DH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Vente </a:t>
              </a:r>
              <a:r>
                <a:rPr lang="en-US" sz="2199" dirty="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accessoires</a:t>
              </a:r>
              <a:endParaRPr lang="en-US" sz="21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ctr">
                <a:lnSpc>
                  <a:spcPts val="3079"/>
                </a:lnSpc>
              </a:pPr>
              <a:endParaRPr lang="en-US" sz="21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83217" y="6767128"/>
            <a:ext cx="4782322" cy="2643644"/>
            <a:chOff x="0" y="0"/>
            <a:chExt cx="1259542" cy="6962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59542" cy="696268"/>
            </a:xfrm>
            <a:custGeom>
              <a:avLst/>
              <a:gdLst/>
              <a:ahLst/>
              <a:cxnLst/>
              <a:rect l="l" t="t" r="r" b="b"/>
              <a:pathLst>
                <a:path w="1259542" h="696268">
                  <a:moveTo>
                    <a:pt x="0" y="0"/>
                  </a:moveTo>
                  <a:lnTo>
                    <a:pt x="1259542" y="0"/>
                  </a:lnTo>
                  <a:lnTo>
                    <a:pt x="1259542" y="696268"/>
                  </a:lnTo>
                  <a:lnTo>
                    <a:pt x="0" y="696268"/>
                  </a:lnTo>
                  <a:close/>
                </a:path>
              </a:pathLst>
            </a:custGeom>
            <a:solidFill>
              <a:srgbClr val="B7720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259542" cy="743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D47A1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Activités clés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Production des powerbanks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Installation kiosques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Vente &amp; marketing</a:t>
              </a:r>
            </a:p>
            <a:p>
              <a:pPr algn="ctr">
                <a:lnSpc>
                  <a:spcPts val="3219"/>
                </a:lnSpc>
              </a:pPr>
              <a:endParaRPr lang="en-US" sz="2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889414" y="4085085"/>
            <a:ext cx="5369886" cy="2402580"/>
            <a:chOff x="0" y="0"/>
            <a:chExt cx="1414291" cy="63277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14291" cy="632778"/>
            </a:xfrm>
            <a:custGeom>
              <a:avLst/>
              <a:gdLst/>
              <a:ahLst/>
              <a:cxnLst/>
              <a:rect l="l" t="t" r="r" b="b"/>
              <a:pathLst>
                <a:path w="1414291" h="632778">
                  <a:moveTo>
                    <a:pt x="0" y="0"/>
                  </a:moveTo>
                  <a:lnTo>
                    <a:pt x="1414291" y="0"/>
                  </a:lnTo>
                  <a:lnTo>
                    <a:pt x="1414291" y="632778"/>
                  </a:lnTo>
                  <a:lnTo>
                    <a:pt x="0" y="632778"/>
                  </a:lnTo>
                  <a:close/>
                </a:path>
              </a:pathLst>
            </a:custGeom>
            <a:solidFill>
              <a:srgbClr val="B7720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414291" cy="680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D47A1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Ressources clés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Équipe technique ISTA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Composants électroniques 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Kiosques de recharge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Design du produit Solaris Lux</a:t>
              </a:r>
            </a:p>
            <a:p>
              <a:pPr algn="ctr">
                <a:lnSpc>
                  <a:spcPts val="2799"/>
                </a:lnSpc>
              </a:pPr>
              <a:endPara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889414" y="1564984"/>
            <a:ext cx="5369886" cy="2266015"/>
            <a:chOff x="0" y="0"/>
            <a:chExt cx="1414291" cy="59681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14291" cy="596811"/>
            </a:xfrm>
            <a:custGeom>
              <a:avLst/>
              <a:gdLst/>
              <a:ahLst/>
              <a:cxnLst/>
              <a:rect l="l" t="t" r="r" b="b"/>
              <a:pathLst>
                <a:path w="1414291" h="596811">
                  <a:moveTo>
                    <a:pt x="0" y="0"/>
                  </a:moveTo>
                  <a:lnTo>
                    <a:pt x="1414291" y="0"/>
                  </a:lnTo>
                  <a:lnTo>
                    <a:pt x="1414291" y="596811"/>
                  </a:lnTo>
                  <a:lnTo>
                    <a:pt x="0" y="596811"/>
                  </a:lnTo>
                  <a:close/>
                </a:path>
              </a:pathLst>
            </a:custGeom>
            <a:solidFill>
              <a:srgbClr val="B7720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414291" cy="64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 dirty="0">
                  <a:solidFill>
                    <a:srgbClr val="0D47A1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 xml:space="preserve">Structure des </a:t>
              </a:r>
              <a:r>
                <a:rPr lang="en-US" sz="2499" b="1" dirty="0" err="1">
                  <a:solidFill>
                    <a:srgbClr val="0D47A1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coûts</a:t>
              </a:r>
              <a:r>
                <a:rPr lang="en-US" sz="2499" b="1" dirty="0">
                  <a:solidFill>
                    <a:srgbClr val="0D47A1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 xml:space="preserve"> 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 dirty="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Composants</a:t>
              </a:r>
              <a:endParaRPr lang="en-US" sz="22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ctr">
                <a:lnSpc>
                  <a:spcPts val="3219"/>
                </a:lnSpc>
              </a:pPr>
              <a:r>
                <a:rPr lang="en-US" sz="2299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</a:t>
              </a:r>
              <a:r>
                <a:rPr lang="en-US" sz="2299" dirty="0" err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Logistique</a:t>
              </a:r>
              <a:endParaRPr lang="en-US" sz="22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ctr">
                <a:lnSpc>
                  <a:spcPts val="3219"/>
                </a:lnSpc>
              </a:pPr>
              <a:r>
                <a:rPr lang="en-US" sz="2299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Maintenance</a:t>
              </a:r>
            </a:p>
            <a:p>
              <a:pPr algn="ctr">
                <a:lnSpc>
                  <a:spcPts val="3219"/>
                </a:lnSpc>
              </a:pPr>
              <a:endParaRPr lang="en-US" sz="22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889414" y="6773415"/>
            <a:ext cx="5369886" cy="2637356"/>
            <a:chOff x="0" y="0"/>
            <a:chExt cx="1414291" cy="6946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14291" cy="694612"/>
            </a:xfrm>
            <a:custGeom>
              <a:avLst/>
              <a:gdLst/>
              <a:ahLst/>
              <a:cxnLst/>
              <a:rect l="l" t="t" r="r" b="b"/>
              <a:pathLst>
                <a:path w="1414291" h="694612">
                  <a:moveTo>
                    <a:pt x="0" y="0"/>
                  </a:moveTo>
                  <a:lnTo>
                    <a:pt x="1414291" y="0"/>
                  </a:lnTo>
                  <a:lnTo>
                    <a:pt x="1414291" y="694612"/>
                  </a:lnTo>
                  <a:lnTo>
                    <a:pt x="0" y="694612"/>
                  </a:lnTo>
                  <a:close/>
                </a:path>
              </a:pathLst>
            </a:custGeom>
            <a:solidFill>
              <a:srgbClr val="B7720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414291" cy="742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D47A1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Partenaires clés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Fournisseurs de composants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Atelier d’assemblage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 xml:space="preserve"> ISTA  (installation kiosques)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Service de livraison local</a:t>
              </a: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572044"/>
              </p:ext>
            </p:extLst>
          </p:nvPr>
        </p:nvGraphicFramePr>
        <p:xfrm>
          <a:off x="0" y="2162175"/>
          <a:ext cx="8149106" cy="4781550"/>
        </p:xfrm>
        <a:graphic>
          <a:graphicData uri="http://schemas.openxmlformats.org/drawingml/2006/table">
            <a:tbl>
              <a:tblPr/>
              <a:tblGrid>
                <a:gridCol w="2561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7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9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692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Catégorie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Détail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Montant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 xml:space="preserve"> (DH)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Prix de vente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SmartCharge V1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249 DH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 xml:space="preserve"> Coût production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Composants + batterie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-190 DH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Logistique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Emballage + transport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-10 DH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 xml:space="preserve"> SAV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Garantie + pertes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-5 DH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 xml:space="preserve"> Marge par vente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 xml:space="preserve">Profit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unitaire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= 44 DH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378336"/>
              </p:ext>
            </p:extLst>
          </p:nvPr>
        </p:nvGraphicFramePr>
        <p:xfrm>
          <a:off x="9362086" y="2162175"/>
          <a:ext cx="8637371" cy="4778668"/>
        </p:xfrm>
        <a:graphic>
          <a:graphicData uri="http://schemas.openxmlformats.org/drawingml/2006/table">
            <a:tbl>
              <a:tblPr/>
              <a:tblGrid>
                <a:gridCol w="4567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43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Élément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Calcul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43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Recharge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 DH / heure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1482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Utilisation moyenne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10h / jour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21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Revenu journalier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 xml:space="preserve">20 DH x 20 borne x 30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jours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921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Revenu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 xml:space="preserve"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mensuel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~12000 DH / borne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3429001" y="-95250"/>
            <a:ext cx="1079030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D47A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 xml:space="preserve">Chiffres &amp; </a:t>
            </a:r>
            <a:r>
              <a:rPr lang="en-US" sz="5199" b="1" dirty="0" err="1">
                <a:solidFill>
                  <a:srgbClr val="0D47A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Résultats</a:t>
            </a:r>
            <a:r>
              <a:rPr lang="en-US" sz="5199" b="1" dirty="0">
                <a:solidFill>
                  <a:srgbClr val="0D47A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 xml:space="preserve"> du </a:t>
            </a:r>
            <a:r>
              <a:rPr lang="en-US" sz="5199" b="1" dirty="0" err="1">
                <a:solidFill>
                  <a:srgbClr val="0D47A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projet</a:t>
            </a:r>
            <a:endParaRPr lang="en-US" sz="5199" b="1" dirty="0">
              <a:solidFill>
                <a:srgbClr val="0D47A1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0" y="1404162"/>
            <a:ext cx="5791200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REVENUS Power bank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76542" y="1404162"/>
            <a:ext cx="7158858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 xml:space="preserve">REVENUS </a:t>
            </a:r>
            <a:r>
              <a:rPr lang="en-US" sz="33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Mensuel</a:t>
            </a:r>
            <a:r>
              <a:rPr lang="en-US" sz="33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 xml:space="preserve"> KIOSQUE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069875"/>
              </p:ext>
            </p:extLst>
          </p:nvPr>
        </p:nvGraphicFramePr>
        <p:xfrm>
          <a:off x="3953671" y="1723838"/>
          <a:ext cx="6182223" cy="6055142"/>
        </p:xfrm>
        <a:graphic>
          <a:graphicData uri="http://schemas.openxmlformats.org/drawingml/2006/table">
            <a:tbl>
              <a:tblPr/>
              <a:tblGrid>
                <a:gridCol w="2355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6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59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Produit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 xml:space="preserve">Prix 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d’achat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 xml:space="preserve"> (DH)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51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Câble USB-C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23 DH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697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Support téléphone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47 DH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2059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Adaptateur charge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57 DH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975588" y="190500"/>
            <a:ext cx="16473268" cy="880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 xml:space="preserve">REVENUS des </a:t>
            </a:r>
            <a:r>
              <a:rPr lang="en-US" sz="54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accessoires</a:t>
            </a:r>
            <a:endParaRPr lang="en-US" sz="5199" b="1" dirty="0">
              <a:solidFill>
                <a:srgbClr val="0D47A1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517630" y="8634730"/>
            <a:ext cx="15389185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00B00"/>
                </a:solidFill>
                <a:latin typeface="Open Sans"/>
                <a:ea typeface="Open Sans"/>
                <a:cs typeface="Open Sans"/>
                <a:sym typeface="Open Sans"/>
              </a:rPr>
              <a:t>Marge nette par accessoire : entre 16 DH et 42 DH selon le produit.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100B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92B16EE6-82BA-8E60-A470-2A5324FAA1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038643"/>
              </p:ext>
            </p:extLst>
          </p:nvPr>
        </p:nvGraphicFramePr>
        <p:xfrm>
          <a:off x="10134600" y="1714500"/>
          <a:ext cx="1977727" cy="6055142"/>
        </p:xfrm>
        <a:graphic>
          <a:graphicData uri="http://schemas.openxmlformats.org/drawingml/2006/table">
            <a:tbl>
              <a:tblPr/>
              <a:tblGrid>
                <a:gridCol w="1977727">
                  <a:extLst>
                    <a:ext uri="{9D8B030D-6E8A-4147-A177-3AD203B41FA5}">
                      <a16:colId xmlns:a16="http://schemas.microsoft.com/office/drawing/2014/main" val="1780115129"/>
                    </a:ext>
                  </a:extLst>
                </a:gridCol>
              </a:tblGrid>
              <a:tr h="201159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Prix de vente (DH)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5477914"/>
                  </a:ext>
                </a:extLst>
              </a:tr>
              <a:tr h="123451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39 DH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1072788"/>
                  </a:ext>
                </a:extLst>
              </a:tr>
              <a:tr h="130697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89 DH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264851"/>
                  </a:ext>
                </a:extLst>
              </a:tr>
              <a:tr h="1502059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79 DH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3363739"/>
                  </a:ext>
                </a:extLst>
              </a:tr>
            </a:tbl>
          </a:graphicData>
        </a:graphic>
      </p:graphicFrame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AECE8A26-A27A-7493-6509-23F946DD5F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853051"/>
              </p:ext>
            </p:extLst>
          </p:nvPr>
        </p:nvGraphicFramePr>
        <p:xfrm>
          <a:off x="12115800" y="1714500"/>
          <a:ext cx="2220709" cy="6055142"/>
        </p:xfrm>
        <a:graphic>
          <a:graphicData uri="http://schemas.openxmlformats.org/drawingml/2006/table">
            <a:tbl>
              <a:tblPr/>
              <a:tblGrid>
                <a:gridCol w="2220709">
                  <a:extLst>
                    <a:ext uri="{9D8B030D-6E8A-4147-A177-3AD203B41FA5}">
                      <a16:colId xmlns:a16="http://schemas.microsoft.com/office/drawing/2014/main" val="2271109924"/>
                    </a:ext>
                  </a:extLst>
                </a:gridCol>
              </a:tblGrid>
              <a:tr h="201159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Résultat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 xml:space="preserve"> (profit)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500023"/>
                  </a:ext>
                </a:extLst>
              </a:tr>
              <a:tr h="123451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 DH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441643"/>
                  </a:ext>
                </a:extLst>
              </a:tr>
              <a:tr h="130697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42 DH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648155"/>
                  </a:ext>
                </a:extLst>
              </a:tr>
              <a:tr h="1502059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22 DH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8302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38F23-8CFE-AB5B-60A4-41A7218EE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ED1473F4-E917-F8C8-D193-B14B1CC4E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166847"/>
              </p:ext>
            </p:extLst>
          </p:nvPr>
        </p:nvGraphicFramePr>
        <p:xfrm>
          <a:off x="457200" y="3924300"/>
          <a:ext cx="4064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3575055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26030348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fr-FR" dirty="0"/>
                        <a:t>Charge fixe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Montant réaliste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11421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fr-FR" dirty="0"/>
                        <a:t>Électricité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200 – 600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25949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fr-FR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1 500 – 3 000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79440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fr-FR" dirty="0"/>
                        <a:t>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200 – 500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500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Internet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50 – 150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76161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fr-FR" dirty="0"/>
                        <a:t>TOTAL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≈ 2 000 – 4 000 DH / mois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174079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85D68343-B061-2B9E-FC25-C7DBAC31D7DA}"/>
              </a:ext>
            </a:extLst>
          </p:cNvPr>
          <p:cNvSpPr txBox="1"/>
          <p:nvPr/>
        </p:nvSpPr>
        <p:spPr>
          <a:xfrm>
            <a:off x="228600" y="2891075"/>
            <a:ext cx="640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u="sng" dirty="0"/>
              <a:t xml:space="preserve">Les Charges fixes   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F003DEC0-2C06-1763-B377-09280A7A1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170952"/>
              </p:ext>
            </p:extLst>
          </p:nvPr>
        </p:nvGraphicFramePr>
        <p:xfrm>
          <a:off x="5334000" y="3901440"/>
          <a:ext cx="12192000" cy="4543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7000663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86837699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43857906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736201947"/>
                    </a:ext>
                  </a:extLst>
                </a:gridCol>
              </a:tblGrid>
              <a:tr h="757247">
                <a:tc>
                  <a:txBody>
                    <a:bodyPr/>
                    <a:lstStyle/>
                    <a:p>
                      <a:r>
                        <a:rPr lang="fr-FR" dirty="0"/>
                        <a:t>Élément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Coût unitaire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Quantité (exemple)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2542"/>
                  </a:ext>
                </a:extLst>
              </a:tr>
              <a:tr h="757247">
                <a:tc>
                  <a:txBody>
                    <a:bodyPr/>
                    <a:lstStyle/>
                    <a:p>
                      <a:r>
                        <a:rPr lang="fr-FR" dirty="0"/>
                        <a:t>SmartCharge 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205 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 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2 050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586076"/>
                  </a:ext>
                </a:extLst>
              </a:tr>
              <a:tr h="757247">
                <a:tc>
                  <a:txBody>
                    <a:bodyPr/>
                    <a:lstStyle/>
                    <a:p>
                      <a:r>
                        <a:rPr lang="fr-FR" dirty="0"/>
                        <a:t>Câbles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15 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  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300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162151"/>
                  </a:ext>
                </a:extLst>
              </a:tr>
              <a:tr h="757247">
                <a:tc>
                  <a:txBody>
                    <a:bodyPr/>
                    <a:lstStyle/>
                    <a:p>
                      <a:r>
                        <a:rPr lang="fr-FR" dirty="0"/>
                        <a:t>Adapteur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50 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  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500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485563"/>
                  </a:ext>
                </a:extLst>
              </a:tr>
              <a:tr h="757247">
                <a:tc>
                  <a:txBody>
                    <a:bodyPr/>
                    <a:lstStyle/>
                    <a:p>
                      <a:r>
                        <a:rPr lang="fr-FR" dirty="0"/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60 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  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600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617777"/>
                  </a:ext>
                </a:extLst>
              </a:tr>
              <a:tr h="757247">
                <a:tc>
                  <a:txBody>
                    <a:bodyPr/>
                    <a:lstStyle/>
                    <a:p>
                      <a:r>
                        <a:rPr lang="fr-FR" dirty="0"/>
                        <a:t>Total charges variables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___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___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3 450 DH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996680"/>
                  </a:ext>
                </a:extLst>
              </a:tr>
            </a:tbl>
          </a:graphicData>
        </a:graphic>
      </p:graphicFrame>
      <p:sp>
        <p:nvSpPr>
          <p:cNvPr id="17" name="ZoneTexte 16">
            <a:extLst>
              <a:ext uri="{FF2B5EF4-FFF2-40B4-BE49-F238E27FC236}">
                <a16:creationId xmlns:a16="http://schemas.microsoft.com/office/drawing/2014/main" id="{3219980A-640E-7D5D-DAD8-C968F0C0968A}"/>
              </a:ext>
            </a:extLst>
          </p:cNvPr>
          <p:cNvSpPr txBox="1"/>
          <p:nvPr/>
        </p:nvSpPr>
        <p:spPr>
          <a:xfrm>
            <a:off x="4800600" y="126384"/>
            <a:ext cx="773577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200" b="1" dirty="0">
                <a:solidFill>
                  <a:srgbClr val="0D47A1"/>
                </a:solidFill>
              </a:rPr>
              <a:t xml:space="preserve">Charges variables  : </a:t>
            </a:r>
          </a:p>
          <a:p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E8607EA-62CA-ACA2-EC88-A52C5309E93B}"/>
              </a:ext>
            </a:extLst>
          </p:cNvPr>
          <p:cNvSpPr txBox="1"/>
          <p:nvPr/>
        </p:nvSpPr>
        <p:spPr>
          <a:xfrm>
            <a:off x="5286289" y="2896195"/>
            <a:ext cx="5307287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u="sng" dirty="0"/>
              <a:t>Les Charges  Variables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9011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2192000" y="6286500"/>
            <a:ext cx="5485329" cy="467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strike="sngStrik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8FE6746-515D-E42A-9187-708F93A2BD25}"/>
              </a:ext>
            </a:extLst>
          </p:cNvPr>
          <p:cNvSpPr txBox="1"/>
          <p:nvPr/>
        </p:nvSpPr>
        <p:spPr>
          <a:xfrm>
            <a:off x="3349345" y="342900"/>
            <a:ext cx="102516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>
                <a:solidFill>
                  <a:srgbClr val="0D47A1"/>
                </a:solidFill>
              </a:rPr>
              <a:t>Tableau récapitulatif des revenus mensuels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93E51A97-7999-28B4-0496-91D54CBEA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551612"/>
              </p:ext>
            </p:extLst>
          </p:nvPr>
        </p:nvGraphicFramePr>
        <p:xfrm>
          <a:off x="2590800" y="1313410"/>
          <a:ext cx="12192000" cy="520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68524329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904435758"/>
                    </a:ext>
                  </a:extLst>
                </a:gridCol>
              </a:tblGrid>
              <a:tr h="1041400">
                <a:tc>
                  <a:txBody>
                    <a:bodyPr/>
                    <a:lstStyle/>
                    <a:p>
                      <a:r>
                        <a:rPr lang="fr-FR" dirty="0"/>
                        <a:t>Source de revenu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Montant (DH)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736078"/>
                  </a:ext>
                </a:extLst>
              </a:tr>
              <a:tr h="1041400">
                <a:tc>
                  <a:txBody>
                    <a:bodyPr/>
                    <a:lstStyle/>
                    <a:p>
                      <a:r>
                        <a:rPr lang="fr-FR" dirty="0"/>
                        <a:t>Borne SmartCharge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12 000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722522"/>
                  </a:ext>
                </a:extLst>
              </a:tr>
              <a:tr h="1041400">
                <a:tc>
                  <a:txBody>
                    <a:bodyPr/>
                    <a:lstStyle/>
                    <a:p>
                      <a:r>
                        <a:rPr lang="fr-FR" dirty="0" err="1"/>
                        <a:t>Powerbank</a:t>
                      </a:r>
                      <a:r>
                        <a:rPr lang="fr-FR" dirty="0"/>
                        <a:t xml:space="preserve"> (profit)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440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603439"/>
                  </a:ext>
                </a:extLst>
              </a:tr>
              <a:tr h="1041400">
                <a:tc>
                  <a:txBody>
                    <a:bodyPr/>
                    <a:lstStyle/>
                    <a:p>
                      <a:r>
                        <a:rPr lang="fr-FR" dirty="0"/>
                        <a:t>Accessoires (profit)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850 DH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834424"/>
                  </a:ext>
                </a:extLst>
              </a:tr>
              <a:tr h="1041400">
                <a:tc>
                  <a:txBody>
                    <a:bodyPr/>
                    <a:lstStyle/>
                    <a:p>
                      <a:r>
                        <a:rPr lang="fr-FR" dirty="0"/>
                        <a:t>Total CA mensuel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13 290 DH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830275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AB4E8C88-1B93-4508-06B7-57A79558F39E}"/>
              </a:ext>
            </a:extLst>
          </p:cNvPr>
          <p:cNvSpPr txBox="1"/>
          <p:nvPr/>
        </p:nvSpPr>
        <p:spPr>
          <a:xfrm>
            <a:off x="914400" y="7060132"/>
            <a:ext cx="143560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200" b="1" dirty="0">
                <a:solidFill>
                  <a:srgbClr val="00B0F0"/>
                </a:solidFill>
              </a:rPr>
              <a:t xml:space="preserve">  Résumé global :</a:t>
            </a:r>
            <a:endParaRPr lang="fr-FR" sz="3200" dirty="0">
              <a:solidFill>
                <a:srgbClr val="00B0F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3200" b="1" dirty="0"/>
              <a:t xml:space="preserve"> CA mensuel estimé : 13 290 DH</a:t>
            </a:r>
            <a:r>
              <a:rPr lang="fr-FR" sz="3200" dirty="0"/>
              <a:t xml:space="preserve"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3200" b="1" dirty="0"/>
              <a:t xml:space="preserve"> Charges totales : 6 450 DH</a:t>
            </a:r>
            <a:r>
              <a:rPr lang="fr-FR" sz="3200" dirty="0"/>
              <a:t xml:space="preserve"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3200" b="1" dirty="0"/>
              <a:t xml:space="preserve"> Bénéfice net : +6 840 DH</a:t>
            </a:r>
            <a:r>
              <a:rPr lang="fr-FR" sz="3200" dirty="0"/>
              <a:t xml:space="preserve"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3200" b="1" dirty="0"/>
              <a:t xml:space="preserve"> Marge globale : ≈ 51 %</a:t>
            </a:r>
            <a:r>
              <a:rPr lang="fr-FR" sz="3200" dirty="0"/>
              <a:t xml:space="preserve"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3200" b="1" dirty="0"/>
              <a:t xml:space="preserve"> CA annuel : ≈ 159 480 DH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1976734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634" y="3025818"/>
            <a:ext cx="11879466" cy="5978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199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 xml:space="preserve"> P – Politique</a:t>
            </a:r>
          </a:p>
          <a:p>
            <a:pPr marL="430073" lvl="1" indent="-215036" algn="l">
              <a:lnSpc>
                <a:spcPts val="2788"/>
              </a:lnSpc>
              <a:buFont typeface="Arial"/>
              <a:buChar char="•"/>
            </a:pPr>
            <a:r>
              <a:rPr lang="en-US" sz="199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Soutien des écoles et de l’OFPPT</a:t>
            </a:r>
          </a:p>
          <a:p>
            <a:pPr marL="430073" lvl="1" indent="-215036" algn="l">
              <a:lnSpc>
                <a:spcPts val="2788"/>
              </a:lnSpc>
              <a:buFont typeface="Arial"/>
              <a:buChar char="•"/>
            </a:pPr>
            <a:r>
              <a:rPr lang="en-US" sz="199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 Encouragement des projets étudiants</a:t>
            </a:r>
          </a:p>
          <a:p>
            <a:pPr algn="l">
              <a:lnSpc>
                <a:spcPts val="2788"/>
              </a:lnSpc>
            </a:pPr>
            <a:endParaRPr lang="en-US" sz="199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r">
              <a:lnSpc>
                <a:spcPts val="2788"/>
              </a:lnSpc>
            </a:pPr>
            <a:endParaRPr lang="en-US" sz="199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88"/>
              </a:lnSpc>
            </a:pPr>
            <a:r>
              <a:rPr lang="en-US" sz="199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 – Social</a:t>
            </a:r>
          </a:p>
          <a:p>
            <a:pPr marL="430073" lvl="1" indent="-215036" algn="l">
              <a:lnSpc>
                <a:spcPts val="2788"/>
              </a:lnSpc>
              <a:buFont typeface="Arial"/>
              <a:buChar char="•"/>
            </a:pPr>
            <a:r>
              <a:rPr lang="en-US" sz="199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Les étudiants utilisent beaucoup leur téléphone</a:t>
            </a:r>
          </a:p>
          <a:p>
            <a:pPr marL="430073" lvl="1" indent="-215036" algn="l">
              <a:lnSpc>
                <a:spcPts val="2788"/>
              </a:lnSpc>
              <a:buFont typeface="Arial"/>
              <a:buChar char="•"/>
            </a:pPr>
            <a:r>
              <a:rPr lang="en-US" sz="199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 Besoin de recharge toute la journée</a:t>
            </a:r>
          </a:p>
          <a:p>
            <a:pPr algn="l">
              <a:lnSpc>
                <a:spcPts val="2788"/>
              </a:lnSpc>
            </a:pPr>
            <a:endParaRPr lang="en-US" sz="199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r">
              <a:lnSpc>
                <a:spcPts val="2788"/>
              </a:lnSpc>
            </a:pPr>
            <a:endParaRPr lang="en-US" sz="199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88"/>
              </a:lnSpc>
            </a:pPr>
            <a:r>
              <a:rPr lang="en-US" sz="199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 – Environnemental</a:t>
            </a:r>
          </a:p>
          <a:p>
            <a:pPr marL="430073" lvl="1" indent="-215036" algn="l">
              <a:lnSpc>
                <a:spcPts val="2788"/>
              </a:lnSpc>
              <a:buFont typeface="Arial"/>
              <a:buChar char="•"/>
            </a:pPr>
            <a:r>
              <a:rPr lang="en-US" sz="199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Énergie solaire = propre et gratuite</a:t>
            </a:r>
          </a:p>
          <a:p>
            <a:pPr marL="430073" lvl="1" indent="-215036" algn="l">
              <a:lnSpc>
                <a:spcPts val="2788"/>
              </a:lnSpc>
              <a:buFont typeface="Arial"/>
              <a:buChar char="•"/>
            </a:pPr>
            <a:r>
              <a:rPr lang="en-US" sz="199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Moins de déchets de chargeurs bas de gamme</a:t>
            </a:r>
          </a:p>
          <a:p>
            <a:pPr algn="l">
              <a:lnSpc>
                <a:spcPts val="2788"/>
              </a:lnSpc>
            </a:pPr>
            <a:endParaRPr lang="en-US" sz="199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88"/>
              </a:lnSpc>
            </a:pPr>
            <a:endParaRPr lang="en-US" sz="199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r">
              <a:lnSpc>
                <a:spcPts val="2788"/>
              </a:lnSpc>
            </a:pPr>
            <a:endParaRPr lang="en-US" sz="199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788"/>
              </a:lnSpc>
            </a:pPr>
            <a:endParaRPr lang="en-US" sz="199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078849" y="86596"/>
            <a:ext cx="8130302" cy="136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60B0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Analyse PESTEL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395313" y="3025818"/>
            <a:ext cx="11879466" cy="5626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98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 – Économique</a:t>
            </a:r>
          </a:p>
          <a:p>
            <a:pPr marL="429640" lvl="1" indent="-214820" algn="l">
              <a:lnSpc>
                <a:spcPts val="2785"/>
              </a:lnSpc>
              <a:buFont typeface="Arial"/>
              <a:buChar char="•"/>
            </a:pPr>
            <a:r>
              <a:rPr lang="en-US" sz="19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Les étudiants cherchent des solutions pas chères</a:t>
            </a:r>
          </a:p>
          <a:p>
            <a:pPr marL="429640" lvl="1" indent="-214820" algn="l">
              <a:lnSpc>
                <a:spcPts val="2785"/>
              </a:lnSpc>
              <a:buFont typeface="Arial"/>
              <a:buChar char="•"/>
            </a:pPr>
            <a:r>
              <a:rPr lang="en-US" sz="19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Marché des accessoires téléphone en croissance</a:t>
            </a:r>
          </a:p>
          <a:p>
            <a:pPr algn="l">
              <a:lnSpc>
                <a:spcPts val="2785"/>
              </a:lnSpc>
            </a:pPr>
            <a:endParaRPr lang="en-US" sz="198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85"/>
              </a:lnSpc>
            </a:pPr>
            <a:endParaRPr lang="en-US" sz="198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85"/>
              </a:lnSpc>
            </a:pPr>
            <a:endParaRPr lang="en-US" sz="198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85"/>
              </a:lnSpc>
            </a:pPr>
            <a:r>
              <a:rPr lang="en-US" sz="198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– Technologique</a:t>
            </a:r>
          </a:p>
          <a:p>
            <a:pPr marL="429640" lvl="1" indent="-214820" algn="l">
              <a:lnSpc>
                <a:spcPts val="2785"/>
              </a:lnSpc>
              <a:buFont typeface="Arial"/>
              <a:buChar char="•"/>
            </a:pPr>
            <a:r>
              <a:rPr lang="en-US" sz="19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USB-C et recharge rapide deviennent standards</a:t>
            </a:r>
          </a:p>
          <a:p>
            <a:pPr marL="429640" lvl="1" indent="-214820" algn="l">
              <a:lnSpc>
                <a:spcPts val="2785"/>
              </a:lnSpc>
              <a:buFont typeface="Arial"/>
              <a:buChar char="•"/>
            </a:pPr>
            <a:r>
              <a:rPr lang="en-US" sz="19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Technologie solaire de plus en plus accessible</a:t>
            </a:r>
          </a:p>
          <a:p>
            <a:pPr algn="l">
              <a:lnSpc>
                <a:spcPts val="2785"/>
              </a:lnSpc>
            </a:pPr>
            <a:endParaRPr lang="en-US" sz="198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85"/>
              </a:lnSpc>
            </a:pPr>
            <a:endParaRPr lang="en-US" sz="198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85"/>
              </a:lnSpc>
            </a:pPr>
            <a:endParaRPr lang="en-US" sz="198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85"/>
              </a:lnSpc>
            </a:pPr>
            <a:endParaRPr lang="en-US" sz="198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85"/>
              </a:lnSpc>
            </a:pPr>
            <a:r>
              <a:rPr lang="en-US" sz="198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 xml:space="preserve"> L – Légal</a:t>
            </a:r>
          </a:p>
          <a:p>
            <a:pPr marL="429640" lvl="1" indent="-214820" algn="l">
              <a:lnSpc>
                <a:spcPts val="2785"/>
              </a:lnSpc>
              <a:buFont typeface="Arial"/>
              <a:buChar char="•"/>
            </a:pPr>
            <a:r>
              <a:rPr lang="en-US" sz="19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Respect des normes de sécurité électrique</a:t>
            </a:r>
          </a:p>
          <a:p>
            <a:pPr marL="429640" lvl="1" indent="-214820" algn="l">
              <a:lnSpc>
                <a:spcPts val="2785"/>
              </a:lnSpc>
              <a:buFont typeface="Arial"/>
              <a:buChar char="•"/>
            </a:pPr>
            <a:r>
              <a:rPr lang="en-US" sz="19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Produits certifiés et sécurisés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2501" y="800100"/>
            <a:ext cx="15162997" cy="3195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D47A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 xml:space="preserve">Merci de </a:t>
            </a:r>
            <a:r>
              <a:rPr lang="en-US" sz="9200" b="1" dirty="0" err="1">
                <a:solidFill>
                  <a:srgbClr val="0D47A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votre</a:t>
            </a:r>
            <a:r>
              <a:rPr lang="en-US" sz="9200" b="1" dirty="0">
                <a:solidFill>
                  <a:srgbClr val="0D47A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 xml:space="preserve"> attention</a:t>
            </a:r>
          </a:p>
          <a:p>
            <a:pPr algn="ctr">
              <a:lnSpc>
                <a:spcPts val="12880"/>
              </a:lnSpc>
            </a:pPr>
            <a:endParaRPr lang="en-US" sz="9200" b="1" dirty="0">
              <a:solidFill>
                <a:srgbClr val="0D47A1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0" y="3784328"/>
            <a:ext cx="18288000" cy="245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dirty="0">
                <a:solidFill>
                  <a:srgbClr val="100B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 problème concret, une solution construite sur l’ISTA Témara — par des étudiants, pour des étudiants.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61036" y="9429750"/>
            <a:ext cx="16056709" cy="1180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 xml:space="preserve"> “</a:t>
            </a:r>
            <a:r>
              <a:rPr lang="en-US" sz="3399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L’innovation</a:t>
            </a:r>
            <a:r>
              <a:rPr lang="en-US" sz="3399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 xml:space="preserve"> commence par un petit </a:t>
            </a:r>
            <a:r>
              <a:rPr lang="en-US" sz="3399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projet</a:t>
            </a:r>
            <a:r>
              <a:rPr lang="en-US" sz="3399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 xml:space="preserve">… et </a:t>
            </a:r>
            <a:r>
              <a:rPr lang="en-US" sz="3399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devient</a:t>
            </a:r>
            <a:r>
              <a:rPr lang="en-US" sz="3399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 xml:space="preserve"> un grand changement.”</a:t>
            </a:r>
          </a:p>
          <a:p>
            <a:pPr algn="ctr">
              <a:lnSpc>
                <a:spcPts val="4759"/>
              </a:lnSpc>
            </a:pPr>
            <a:endParaRPr lang="en-US" sz="3399" i="1" dirty="0">
              <a:solidFill>
                <a:srgbClr val="000000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019801" y="6953146"/>
            <a:ext cx="5856148" cy="1805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Youssouf Adlani — CEO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Youssef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Zhar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 xml:space="preserve"> — CTO</a:t>
            </a: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1131</Words>
  <Application>Microsoft Office PowerPoint</Application>
  <PresentationFormat>Personnalisé</PresentationFormat>
  <Paragraphs>291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7" baseType="lpstr">
      <vt:lpstr>Bahnschrift</vt:lpstr>
      <vt:lpstr>Bookman Old Style</vt:lpstr>
      <vt:lpstr>Arial Black</vt:lpstr>
      <vt:lpstr>Calibri</vt:lpstr>
      <vt:lpstr>Cascadia Code</vt:lpstr>
      <vt:lpstr>Open Sans Italics</vt:lpstr>
      <vt:lpstr>Californian FB</vt:lpstr>
      <vt:lpstr>Open Sans Bold</vt:lpstr>
      <vt:lpstr>Open Sans Bold Italics</vt:lpstr>
      <vt:lpstr>Berlin Sans FB Demi</vt:lpstr>
      <vt:lpstr>Arial</vt:lpstr>
      <vt:lpstr>Open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Solaris Lux</dc:title>
  <cp:lastModifiedBy>ZHAR YOUSSEF</cp:lastModifiedBy>
  <cp:revision>17</cp:revision>
  <dcterms:created xsi:type="dcterms:W3CDTF">2006-08-16T00:00:00Z</dcterms:created>
  <dcterms:modified xsi:type="dcterms:W3CDTF">2026-04-11T15:11:41Z</dcterms:modified>
  <dc:identifier>DAHGfOaYy_0</dc:identifier>
</cp:coreProperties>
</file>