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57" r:id="rId13"/>
    <p:sldId id="270" r:id="rId14"/>
    <p:sldId id="271" r:id="rId15"/>
    <p:sldId id="272" r:id="rId16"/>
    <p:sldId id="265" r:id="rId17"/>
    <p:sldId id="267" r:id="rId18"/>
  </p:sldIdLst>
  <p:sldSz cx="12192000" cy="6858000"/>
  <p:notesSz cx="6858000" cy="12192000"/>
  <p:embeddedFontLst>
    <p:embeddedFont>
      <p:font typeface="微软雅黑" panose="020B0503020204020204" pitchFamily="34" charset="-122"/>
      <p:regular r:id="rId20"/>
      <p:bold r:id="rId21"/>
    </p:embeddedFont>
    <p:embeddedFont>
      <p:font typeface="MiSans" panose="020B0604020202020204" charset="-122"/>
      <p:regular r:id="rId22"/>
    </p:embeddedFont>
    <p:embeddedFont>
      <p:font typeface="Liter" panose="020B0604020202020204" charset="0"/>
      <p:regular r:id="rId23"/>
    </p:embeddedFont>
    <p:embeddedFont>
      <p:font typeface="Open Sans" panose="020B0606030504020204" pitchFamily="34" charset="0"/>
      <p:regular r:id="rId24"/>
    </p:embeddedFont>
    <p:embeddedFont>
      <p:font typeface="Open Sans Bold" panose="020B0806030504020204" charset="0"/>
      <p:regular r:id="rId25"/>
      <p:bold r:id="rId26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>
        <p:scale>
          <a:sx n="25" d="100"/>
          <a:sy n="25" d="100"/>
        </p:scale>
        <p:origin x="917" y="1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680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658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E3137-854D-D140-7C97-69A32AE0A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D85EB-3F6A-766C-3DE2-8AF9D31A8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96A95A-144C-FDF7-8A0D-27103D6E4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C3678-1F15-7C51-249E-D52571281B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087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DD8B9-D342-111B-1F9F-C611E4D29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181F0B-CBBE-C462-205F-6F64C549B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B4E56-635D-95B5-41FA-AFA784A0D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94DC3-B609-FFF6-2F94-60190EC1A0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897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6836C-FFE2-BDA6-A0E5-D10C07940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A8B7C3-5044-40B3-24DB-5C660CF67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20B31-C91A-6C98-22CB-70E82AEB3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FEAD1-1395-4280-8427-533E9FE01E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62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thecooldown.com/5ded63936908dd50748bd563803d57bfaa7d5837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76" r="7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85000"/>
                </a:srgbClr>
              </a:gs>
              <a:gs pos="100000">
                <a:srgbClr val="0D47A1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383591" y="383591"/>
            <a:ext cx="3577123" cy="424348"/>
          </a:xfrm>
          <a:prstGeom prst="roundRect">
            <a:avLst>
              <a:gd name="adj" fmla="val 50000"/>
            </a:avLst>
          </a:prstGeom>
          <a:solidFill>
            <a:srgbClr val="C9A24A">
              <a:alpha val="14902"/>
            </a:srgbClr>
          </a:solidFill>
          <a:ln w="6997">
            <a:solidFill>
              <a:srgbClr val="C9A2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576699" y="557593"/>
            <a:ext cx="76200" cy="76200"/>
          </a:xfrm>
          <a:prstGeom prst="roundRect">
            <a:avLst>
              <a:gd name="adj" fmla="val 50000"/>
            </a:avLst>
          </a:pr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67100" y="481416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Projet Étudiant — ISTA Témara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31137" y="380967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0967" y="1206779"/>
            <a:ext cx="914400" cy="57150"/>
          </a:xfrm>
          <a:prstGeom prst="roundRect">
            <a:avLst>
              <a:gd name="adj" fmla="val 0"/>
            </a:avLst>
          </a:pr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80967" y="1568640"/>
            <a:ext cx="6972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kern="0" spc="-22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Solaris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0967" y="2863978"/>
            <a:ext cx="6972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kern="0" spc="-225" dirty="0">
                <a:solidFill>
                  <a:srgbClr val="C9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Lux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0967" y="4311751"/>
            <a:ext cx="65436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1F5F9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L'énergie solaire à portée de main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0967" y="4928465"/>
            <a:ext cx="6496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 solutions de recharge innovantes pour les étudiants : powerbanks solaires et kiosques de recharge accessibles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3591" y="5946318"/>
            <a:ext cx="529123" cy="529123"/>
          </a:xfrm>
          <a:prstGeom prst="roundRect">
            <a:avLst>
              <a:gd name="adj" fmla="val 21602"/>
            </a:avLst>
          </a:prstGeom>
          <a:solidFill>
            <a:srgbClr val="C9A24A">
              <a:alpha val="20000"/>
            </a:srgbClr>
          </a:solidFill>
          <a:ln w="6997">
            <a:solidFill>
              <a:srgbClr val="C9A24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519073" y="609604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54382" y="14288"/>
                </a:moveTo>
                <a:cubicBezTo>
                  <a:pt x="40987" y="14288"/>
                  <a:pt x="29379" y="23574"/>
                  <a:pt x="26477" y="36656"/>
                </a:cubicBezTo>
                <a:lnTo>
                  <a:pt x="4286" y="136669"/>
                </a:lnTo>
                <a:cubicBezTo>
                  <a:pt x="313" y="154528"/>
                  <a:pt x="13886" y="171450"/>
                  <a:pt x="32147" y="171450"/>
                </a:cubicBezTo>
                <a:lnTo>
                  <a:pt x="114345" y="171450"/>
                </a:lnTo>
                <a:lnTo>
                  <a:pt x="114345" y="200025"/>
                </a:lnTo>
                <a:lnTo>
                  <a:pt x="85770" y="200025"/>
                </a:lnTo>
                <a:cubicBezTo>
                  <a:pt x="77867" y="200025"/>
                  <a:pt x="71482" y="206410"/>
                  <a:pt x="71482" y="214313"/>
                </a:cubicBezTo>
                <a:cubicBezTo>
                  <a:pt x="71482" y="222215"/>
                  <a:pt x="77867" y="228600"/>
                  <a:pt x="85770" y="228600"/>
                </a:cubicBezTo>
                <a:lnTo>
                  <a:pt x="171495" y="228600"/>
                </a:lnTo>
                <a:cubicBezTo>
                  <a:pt x="179397" y="228600"/>
                  <a:pt x="185782" y="222215"/>
                  <a:pt x="185782" y="214313"/>
                </a:cubicBezTo>
                <a:cubicBezTo>
                  <a:pt x="185782" y="206410"/>
                  <a:pt x="179397" y="200025"/>
                  <a:pt x="171495" y="200025"/>
                </a:cubicBezTo>
                <a:lnTo>
                  <a:pt x="142920" y="200025"/>
                </a:lnTo>
                <a:lnTo>
                  <a:pt x="142920" y="171450"/>
                </a:lnTo>
                <a:lnTo>
                  <a:pt x="225117" y="171450"/>
                </a:lnTo>
                <a:cubicBezTo>
                  <a:pt x="243379" y="171450"/>
                  <a:pt x="256996" y="154528"/>
                  <a:pt x="253023" y="136669"/>
                </a:cubicBezTo>
                <a:lnTo>
                  <a:pt x="230788" y="36656"/>
                </a:lnTo>
                <a:cubicBezTo>
                  <a:pt x="227886" y="23574"/>
                  <a:pt x="216322" y="14288"/>
                  <a:pt x="202927" y="14288"/>
                </a:cubicBezTo>
                <a:lnTo>
                  <a:pt x="54382" y="14288"/>
                </a:lnTo>
                <a:close/>
                <a:moveTo>
                  <a:pt x="109657" y="42863"/>
                </a:moveTo>
                <a:lnTo>
                  <a:pt x="147697" y="42863"/>
                </a:lnTo>
                <a:lnTo>
                  <a:pt x="150956" y="82153"/>
                </a:lnTo>
                <a:lnTo>
                  <a:pt x="106397" y="82153"/>
                </a:lnTo>
                <a:lnTo>
                  <a:pt x="109657" y="42863"/>
                </a:lnTo>
                <a:close/>
                <a:moveTo>
                  <a:pt x="84877" y="82153"/>
                </a:moveTo>
                <a:lnTo>
                  <a:pt x="45675" y="82153"/>
                </a:lnTo>
                <a:lnTo>
                  <a:pt x="54426" y="42863"/>
                </a:lnTo>
                <a:lnTo>
                  <a:pt x="88181" y="42863"/>
                </a:lnTo>
                <a:lnTo>
                  <a:pt x="84921" y="82153"/>
                </a:lnTo>
                <a:close/>
                <a:moveTo>
                  <a:pt x="40898" y="103584"/>
                </a:moveTo>
                <a:lnTo>
                  <a:pt x="83091" y="103584"/>
                </a:lnTo>
                <a:lnTo>
                  <a:pt x="79831" y="142875"/>
                </a:lnTo>
                <a:lnTo>
                  <a:pt x="32192" y="142875"/>
                </a:lnTo>
                <a:lnTo>
                  <a:pt x="40943" y="103584"/>
                </a:lnTo>
                <a:close/>
                <a:moveTo>
                  <a:pt x="104567" y="103584"/>
                </a:moveTo>
                <a:lnTo>
                  <a:pt x="152698" y="103584"/>
                </a:lnTo>
                <a:lnTo>
                  <a:pt x="155957" y="142875"/>
                </a:lnTo>
                <a:lnTo>
                  <a:pt x="101263" y="142875"/>
                </a:lnTo>
                <a:lnTo>
                  <a:pt x="104522" y="103584"/>
                </a:lnTo>
                <a:close/>
                <a:moveTo>
                  <a:pt x="174218" y="103584"/>
                </a:moveTo>
                <a:lnTo>
                  <a:pt x="216411" y="103584"/>
                </a:lnTo>
                <a:lnTo>
                  <a:pt x="225162" y="142875"/>
                </a:lnTo>
                <a:lnTo>
                  <a:pt x="177522" y="142875"/>
                </a:lnTo>
                <a:lnTo>
                  <a:pt x="174263" y="103584"/>
                </a:lnTo>
                <a:close/>
                <a:moveTo>
                  <a:pt x="211634" y="82153"/>
                </a:moveTo>
                <a:lnTo>
                  <a:pt x="172432" y="82153"/>
                </a:lnTo>
                <a:lnTo>
                  <a:pt x="169173" y="42863"/>
                </a:lnTo>
                <a:lnTo>
                  <a:pt x="202927" y="42863"/>
                </a:lnTo>
                <a:lnTo>
                  <a:pt x="211678" y="82153"/>
                </a:ln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1142819" y="5962718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Énergie Solaire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42819" y="6229378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Propre &amp; Accessible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37576" y="5946318"/>
            <a:ext cx="529123" cy="529123"/>
          </a:xfrm>
          <a:prstGeom prst="roundRect">
            <a:avLst>
              <a:gd name="adj" fmla="val 21602"/>
            </a:avLst>
          </a:prstGeom>
          <a:solidFill>
            <a:srgbClr val="0D47A1">
              <a:alpha val="30196"/>
            </a:srgbClr>
          </a:solidFill>
          <a:ln w="6997">
            <a:solidFill>
              <a:srgbClr val="0D47A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4701633" y="609604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296805" y="5962718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Recharge Rapide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296805" y="6229378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USB-C &amp; Technologie Avancée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453331" y="5946318"/>
            <a:ext cx="529123" cy="529123"/>
          </a:xfrm>
          <a:prstGeom prst="roundRect">
            <a:avLst>
              <a:gd name="adj" fmla="val 21602"/>
            </a:avLst>
          </a:prstGeom>
          <a:solidFill>
            <a:srgbClr val="C9A24A">
              <a:alpha val="20000"/>
            </a:srgbClr>
          </a:solidFill>
          <a:ln w="6997">
            <a:solidFill>
              <a:srgbClr val="C9A24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9588814" y="609604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10212560" y="5962718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Prix Étudiant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212560" y="6229378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À partir de 2 DH/heure</a:t>
            </a:r>
            <a:endParaRPr lang="en-US" sz="1600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B6876804-83BE-CE30-1741-99508DF26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667" y="0"/>
            <a:ext cx="4555771" cy="3005439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ADEF767D-9CA3-CD12-E577-80275635C3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99" y="-342900"/>
            <a:ext cx="4506468" cy="450646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67" y="380967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 — Analyse &amp; Équipe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67" y="647626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L'Équipe Solaris Lux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67" y="1104770"/>
            <a:ext cx="914400" cy="38100"/>
          </a:xfrm>
          <a:prstGeom prst="roundRect">
            <a:avLst>
              <a:gd name="adj" fmla="val 0"/>
            </a:avLst>
          </a:pr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83591" y="1221619"/>
            <a:ext cx="5596423" cy="4510573"/>
          </a:xfrm>
          <a:prstGeom prst="roundRect">
            <a:avLst>
              <a:gd name="adj" fmla="val 3379"/>
            </a:avLst>
          </a:prstGeom>
          <a:solidFill>
            <a:srgbClr val="1E293B">
              <a:alpha val="60000"/>
            </a:srgbClr>
          </a:soli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95066" y="1433095"/>
            <a:ext cx="1484536" cy="1484536"/>
          </a:xfrm>
          <a:prstGeom prst="roundRect">
            <a:avLst>
              <a:gd name="adj" fmla="val 10266"/>
            </a:avLst>
          </a:prstGeom>
          <a:solidFill>
            <a:srgbClr val="000000">
              <a:alpha val="0"/>
            </a:srgbClr>
          </a:solidFill>
          <a:ln w="48981">
            <a:solidFill>
              <a:srgbClr val="C9A2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0" descr="https://kimi-img.moonshot.cn/pub/slides/okc/ky7rp26w2sgau/mnt/agents/upload/image.png"/>
          <p:cNvPicPr>
            <a:picLocks noChangeAspect="1"/>
          </p:cNvPicPr>
          <p:nvPr/>
        </p:nvPicPr>
        <p:blipFill>
          <a:blip r:embed="rId3"/>
          <a:srcRect t="12534" b="12534"/>
          <a:stretch/>
        </p:blipFill>
        <p:spPr>
          <a:xfrm>
            <a:off x="613434" y="1451465"/>
            <a:ext cx="1447800" cy="1447800"/>
          </a:xfrm>
          <a:prstGeom prst="roundRect">
            <a:avLst>
              <a:gd name="adj" fmla="val 10526"/>
            </a:avLst>
          </a:prstGeom>
        </p:spPr>
      </p:pic>
      <p:sp>
        <p:nvSpPr>
          <p:cNvPr id="8" name="Text 5"/>
          <p:cNvSpPr/>
          <p:nvPr/>
        </p:nvSpPr>
        <p:spPr>
          <a:xfrm>
            <a:off x="2291133" y="1414728"/>
            <a:ext cx="3638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Youssouf Adlani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291133" y="1795695"/>
            <a:ext cx="3590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CEO — Chief Executive Officer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291133" y="2176579"/>
            <a:ext cx="35718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Visionnaire et stratège, Youssouf pilote le développement global de Solaris Lux. Sa passion pour l'innovation technologique et son leadership naturel guident l'équipe vers l'excellence.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293757" y="5191763"/>
            <a:ext cx="948223" cy="348148"/>
          </a:xfrm>
          <a:prstGeom prst="roundRect">
            <a:avLst>
              <a:gd name="adj" fmla="val 50000"/>
            </a:avLst>
          </a:prstGeom>
          <a:solidFill>
            <a:srgbClr val="C9A24A">
              <a:alpha val="20000"/>
            </a:srgbClr>
          </a:solidFill>
          <a:ln w="6997">
            <a:solidFill>
              <a:srgbClr val="C9A24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2291133" y="5189139"/>
            <a:ext cx="1019175" cy="342900"/>
          </a:xfrm>
          <a:prstGeom prst="rect">
            <a:avLst/>
          </a:prstGeom>
          <a:noFill/>
          <a:ln/>
        </p:spPr>
        <p:txBody>
          <a:bodyPr wrap="square" lIns="152400" tIns="57150" rIns="152400" bIns="5715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Stratégie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57939" y="5191763"/>
            <a:ext cx="1081573" cy="348148"/>
          </a:xfrm>
          <a:prstGeom prst="roundRect">
            <a:avLst>
              <a:gd name="adj" fmla="val 50000"/>
            </a:avLst>
          </a:prstGeom>
          <a:solidFill>
            <a:srgbClr val="C9A24A">
              <a:alpha val="20000"/>
            </a:srgbClr>
          </a:solidFill>
          <a:ln w="6997">
            <a:solidFill>
              <a:srgbClr val="C9A24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355315" y="5189139"/>
            <a:ext cx="1152525" cy="342900"/>
          </a:xfrm>
          <a:prstGeom prst="rect">
            <a:avLst/>
          </a:prstGeom>
          <a:noFill/>
          <a:ln/>
        </p:spPr>
        <p:txBody>
          <a:bodyPr wrap="square" lIns="152400" tIns="57150" rIns="152400" bIns="5715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Leadership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59634" y="5191763"/>
            <a:ext cx="1033948" cy="348148"/>
          </a:xfrm>
          <a:prstGeom prst="roundRect">
            <a:avLst>
              <a:gd name="adj" fmla="val 50000"/>
            </a:avLst>
          </a:prstGeom>
          <a:solidFill>
            <a:srgbClr val="C9A24A">
              <a:alpha val="20000"/>
            </a:srgbClr>
          </a:solidFill>
          <a:ln w="6997">
            <a:solidFill>
              <a:srgbClr val="C9A24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557010" y="5189139"/>
            <a:ext cx="1104900" cy="342900"/>
          </a:xfrm>
          <a:prstGeom prst="rect">
            <a:avLst/>
          </a:prstGeom>
          <a:noFill/>
          <a:ln/>
        </p:spPr>
        <p:txBody>
          <a:bodyPr wrap="square" lIns="152400" tIns="57150" rIns="152400" bIns="5715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Innovation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12815" y="1221619"/>
            <a:ext cx="5596423" cy="4510573"/>
          </a:xfrm>
          <a:prstGeom prst="roundRect">
            <a:avLst>
              <a:gd name="adj" fmla="val 3379"/>
            </a:avLst>
          </a:prstGeom>
          <a:solidFill>
            <a:srgbClr val="1E293B">
              <a:alpha val="60000"/>
            </a:srgbClr>
          </a:solidFill>
          <a:ln w="6997">
            <a:solidFill>
              <a:srgbClr val="0D47A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6424290" y="1433095"/>
            <a:ext cx="1484536" cy="1484536"/>
          </a:xfrm>
          <a:prstGeom prst="roundRect">
            <a:avLst>
              <a:gd name="adj" fmla="val 10266"/>
            </a:avLst>
          </a:prstGeom>
          <a:solidFill>
            <a:srgbClr val="000000">
              <a:alpha val="0"/>
            </a:srgbClr>
          </a:solidFill>
          <a:ln w="48981">
            <a:solidFill>
              <a:srgbClr val="0D47A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1" descr="https://kimi-img.moonshot.cn/pub/slides/okc/ky7rp26w2sgau/mnt/agents/upload/image(1).png"/>
          <p:cNvPicPr>
            <a:picLocks noChangeAspect="1"/>
          </p:cNvPicPr>
          <p:nvPr/>
        </p:nvPicPr>
        <p:blipFill>
          <a:blip r:embed="rId4"/>
          <a:srcRect t="12534" b="12534"/>
          <a:stretch/>
        </p:blipFill>
        <p:spPr>
          <a:xfrm>
            <a:off x="6442658" y="1451465"/>
            <a:ext cx="1447800" cy="1447800"/>
          </a:xfrm>
          <a:prstGeom prst="roundRect">
            <a:avLst>
              <a:gd name="adj" fmla="val 10526"/>
            </a:avLst>
          </a:prstGeom>
        </p:spPr>
      </p:pic>
      <p:sp>
        <p:nvSpPr>
          <p:cNvPr id="20" name="Text 16"/>
          <p:cNvSpPr/>
          <p:nvPr/>
        </p:nvSpPr>
        <p:spPr>
          <a:xfrm>
            <a:off x="8120357" y="1414728"/>
            <a:ext cx="3638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Youssef Zhar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8120357" y="1795695"/>
            <a:ext cx="3590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CTO — Chief Technology Officer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120357" y="2176579"/>
            <a:ext cx="357187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Expert en technologies solaires et électroniques, Youssef supervise la conception et le développement des produits Solaris Lux. Son expertise technique assure la qualité et la fiabilité de nos solutions.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8122981" y="4724285"/>
            <a:ext cx="1167298" cy="348148"/>
          </a:xfrm>
          <a:prstGeom prst="roundRect">
            <a:avLst>
              <a:gd name="adj" fmla="val 50000"/>
            </a:avLst>
          </a:prstGeom>
          <a:solidFill>
            <a:srgbClr val="0D47A1">
              <a:alpha val="30196"/>
            </a:srgbClr>
          </a:solidFill>
          <a:ln w="6997">
            <a:solidFill>
              <a:srgbClr val="0D47A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8120357" y="4721661"/>
            <a:ext cx="1238250" cy="342900"/>
          </a:xfrm>
          <a:prstGeom prst="rect">
            <a:avLst/>
          </a:prstGeom>
          <a:noFill/>
          <a:ln/>
        </p:spPr>
        <p:txBody>
          <a:bodyPr wrap="square" lIns="152400" tIns="57150" rIns="152400" bIns="5715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Technologie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9410446" y="4724285"/>
            <a:ext cx="1424473" cy="348148"/>
          </a:xfrm>
          <a:prstGeom prst="roundRect">
            <a:avLst>
              <a:gd name="adj" fmla="val 50000"/>
            </a:avLst>
          </a:prstGeom>
          <a:solidFill>
            <a:srgbClr val="0D47A1">
              <a:alpha val="30196"/>
            </a:srgbClr>
          </a:solidFill>
          <a:ln w="6997">
            <a:solidFill>
              <a:srgbClr val="0D47A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9407822" y="4721661"/>
            <a:ext cx="1495425" cy="342900"/>
          </a:xfrm>
          <a:prstGeom prst="rect">
            <a:avLst/>
          </a:prstGeom>
          <a:noFill/>
          <a:ln/>
        </p:spPr>
        <p:txBody>
          <a:bodyPr wrap="square" lIns="152400" tIns="57150" rIns="152400" bIns="5715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Développement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8122981" y="5191763"/>
            <a:ext cx="1033948" cy="348148"/>
          </a:xfrm>
          <a:prstGeom prst="roundRect">
            <a:avLst>
              <a:gd name="adj" fmla="val 50000"/>
            </a:avLst>
          </a:prstGeom>
          <a:solidFill>
            <a:srgbClr val="0D47A1">
              <a:alpha val="30196"/>
            </a:srgbClr>
          </a:solidFill>
          <a:ln w="6997">
            <a:solidFill>
              <a:srgbClr val="0D47A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4"/>
          <p:cNvSpPr/>
          <p:nvPr/>
        </p:nvSpPr>
        <p:spPr>
          <a:xfrm>
            <a:off x="8120357" y="5189139"/>
            <a:ext cx="1104900" cy="342900"/>
          </a:xfrm>
          <a:prstGeom prst="rect">
            <a:avLst/>
          </a:prstGeom>
          <a:noFill/>
          <a:ln/>
        </p:spPr>
        <p:txBody>
          <a:bodyPr wrap="square" lIns="152400" tIns="57150" rIns="152400" bIns="5715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Innovation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383591" y="5854969"/>
            <a:ext cx="11425723" cy="614848"/>
          </a:xfrm>
          <a:prstGeom prst="roundRect">
            <a:avLst>
              <a:gd name="adj" fmla="val 24787"/>
            </a:avLst>
          </a:prstGeom>
          <a:gradFill flip="none" rotWithShape="1">
            <a:gsLst>
              <a:gs pos="0">
                <a:srgbClr val="C9A24A">
                  <a:alpha val="20000"/>
                </a:srgbClr>
              </a:gs>
              <a:gs pos="100000">
                <a:srgbClr val="0D47A1">
                  <a:alpha val="20000"/>
                </a:srgbClr>
              </a:gs>
            </a:gsLst>
            <a:lin ang="0" scaled="1"/>
          </a:gra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6"/>
          <p:cNvSpPr/>
          <p:nvPr/>
        </p:nvSpPr>
        <p:spPr>
          <a:xfrm>
            <a:off x="2129080" y="605038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7"/>
          <p:cNvSpPr/>
          <p:nvPr/>
        </p:nvSpPr>
        <p:spPr>
          <a:xfrm>
            <a:off x="2552808" y="6009954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"L'innovation commence par un petit projet… et devient un grand changement."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9862812" y="605038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132159"/>
                </a:moveTo>
                <a:cubicBezTo>
                  <a:pt x="200025" y="161761"/>
                  <a:pt x="176049" y="185738"/>
                  <a:pt x="146447" y="185738"/>
                </a:cubicBezTo>
                <a:lnTo>
                  <a:pt x="142875" y="185738"/>
                </a:lnTo>
                <a:cubicBezTo>
                  <a:pt x="134972" y="185738"/>
                  <a:pt x="128588" y="179353"/>
                  <a:pt x="128588" y="171450"/>
                </a:cubicBezTo>
                <a:cubicBezTo>
                  <a:pt x="128588" y="163547"/>
                  <a:pt x="134972" y="157163"/>
                  <a:pt x="142875" y="157163"/>
                </a:cubicBezTo>
                <a:lnTo>
                  <a:pt x="146447" y="157163"/>
                </a:lnTo>
                <a:cubicBezTo>
                  <a:pt x="160243" y="157163"/>
                  <a:pt x="171450" y="145956"/>
                  <a:pt x="171450" y="132159"/>
                </a:cubicBezTo>
                <a:lnTo>
                  <a:pt x="171450" y="128588"/>
                </a:lnTo>
                <a:lnTo>
                  <a:pt x="142875" y="128588"/>
                </a:lnTo>
                <a:cubicBezTo>
                  <a:pt x="127114" y="128588"/>
                  <a:pt x="114300" y="115773"/>
                  <a:pt x="114300" y="100013"/>
                </a:cubicBezTo>
                <a:lnTo>
                  <a:pt x="114300" y="71438"/>
                </a:lnTo>
                <a:cubicBezTo>
                  <a:pt x="114300" y="55677"/>
                  <a:pt x="127114" y="42863"/>
                  <a:pt x="142875" y="42863"/>
                </a:cubicBezTo>
                <a:lnTo>
                  <a:pt x="171450" y="42863"/>
                </a:lnTo>
                <a:cubicBezTo>
                  <a:pt x="187211" y="42863"/>
                  <a:pt x="200025" y="55677"/>
                  <a:pt x="200025" y="71438"/>
                </a:cubicBezTo>
                <a:lnTo>
                  <a:pt x="200025" y="132159"/>
                </a:lnTo>
                <a:close/>
                <a:moveTo>
                  <a:pt x="85725" y="132159"/>
                </a:moveTo>
                <a:cubicBezTo>
                  <a:pt x="85725" y="161761"/>
                  <a:pt x="61749" y="185738"/>
                  <a:pt x="32147" y="185738"/>
                </a:cubicBezTo>
                <a:lnTo>
                  <a:pt x="28575" y="185738"/>
                </a:lnTo>
                <a:cubicBezTo>
                  <a:pt x="20672" y="185738"/>
                  <a:pt x="14288" y="179353"/>
                  <a:pt x="14288" y="171450"/>
                </a:cubicBezTo>
                <a:cubicBezTo>
                  <a:pt x="14288" y="163547"/>
                  <a:pt x="20672" y="157163"/>
                  <a:pt x="28575" y="157163"/>
                </a:cubicBezTo>
                <a:lnTo>
                  <a:pt x="32147" y="157163"/>
                </a:lnTo>
                <a:cubicBezTo>
                  <a:pt x="45943" y="157163"/>
                  <a:pt x="57150" y="145956"/>
                  <a:pt x="57150" y="132159"/>
                </a:cubicBezTo>
                <a:lnTo>
                  <a:pt x="57150" y="128588"/>
                </a:lnTo>
                <a:lnTo>
                  <a:pt x="28575" y="128588"/>
                </a:lnTo>
                <a:cubicBezTo>
                  <a:pt x="12814" y="128588"/>
                  <a:pt x="0" y="115773"/>
                  <a:pt x="0" y="100013"/>
                </a:cubicBezTo>
                <a:lnTo>
                  <a:pt x="0" y="71438"/>
                </a:lnTo>
                <a:cubicBezTo>
                  <a:pt x="0" y="55677"/>
                  <a:pt x="12814" y="42863"/>
                  <a:pt x="28575" y="42863"/>
                </a:cubicBezTo>
                <a:lnTo>
                  <a:pt x="57150" y="42863"/>
                </a:lnTo>
                <a:cubicBezTo>
                  <a:pt x="72911" y="42863"/>
                  <a:pt x="85725" y="55677"/>
                  <a:pt x="85725" y="71438"/>
                </a:cubicBezTo>
                <a:lnTo>
                  <a:pt x="85725" y="132159"/>
                </a:ln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0.wp.com/90a708899042c120b0ac0a0ca6bd993d20bd8e2b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7672" b="767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F172A">
                  <a:alpha val="98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D47A1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388839" y="564727"/>
            <a:ext cx="1053969" cy="1053969"/>
          </a:xfrm>
          <a:prstGeom prst="roundRect">
            <a:avLst>
              <a:gd name="adj" fmla="val 21689"/>
            </a:avLst>
          </a:prstGeom>
          <a:solidFill>
            <a:srgbClr val="C9A24A">
              <a:alpha val="20000"/>
            </a:srgbClr>
          </a:solidFill>
          <a:ln w="20992">
            <a:solidFill>
              <a:srgbClr val="C9A2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617698" y="804410"/>
            <a:ext cx="87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C9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676223" y="1061641"/>
            <a:ext cx="1524000" cy="57150"/>
          </a:xfrm>
          <a:prstGeom prst="roundRect">
            <a:avLst>
              <a:gd name="adj" fmla="val 0"/>
            </a:avLst>
          </a:pr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380967" y="2004546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Projet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0967" y="3223708"/>
            <a:ext cx="7600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C9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Solaris Lux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0967" y="4176207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Une solution innovante de recharge solaire pour les étudiants de l'ISTA Témara, alliant technologie, durabilité et accessibilité.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3591" y="5378885"/>
            <a:ext cx="2919898" cy="919648"/>
          </a:xfrm>
          <a:prstGeom prst="roundRect">
            <a:avLst>
              <a:gd name="adj" fmla="val 12429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724343" y="569573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1200547" y="5571994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Cible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00547" y="5838654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Étudiants ISTA Témara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609184" y="5378885"/>
            <a:ext cx="3548548" cy="919648"/>
          </a:xfrm>
          <a:prstGeom prst="roundRect">
            <a:avLst>
              <a:gd name="adj" fmla="val 12429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0D47A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3949936" y="569573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426140" y="5571994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Mission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26140" y="5838654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Recharge accessible &amp; durable</a:t>
            </a:r>
            <a:endParaRPr lang="en-US" sz="160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07D9C915-B09D-4AF6-F712-D8F19AE13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3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67" y="380967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 — Le Projet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67" y="685758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Buyer Persona &amp; Identité Visuelle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67" y="1180949"/>
            <a:ext cx="914400" cy="38100"/>
          </a:xfrm>
          <a:prstGeom prst="roundRect">
            <a:avLst>
              <a:gd name="adj" fmla="val 0"/>
            </a:avLst>
          </a:pr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83591" y="1450152"/>
            <a:ext cx="6758473" cy="5024923"/>
          </a:xfrm>
          <a:prstGeom prst="roundRect">
            <a:avLst>
              <a:gd name="adj" fmla="val 3033"/>
            </a:avLst>
          </a:prstGeom>
          <a:solidFill>
            <a:srgbClr val="1E293B">
              <a:alpha val="60000"/>
            </a:srgbClr>
          </a:soli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22618" y="1689179"/>
            <a:ext cx="749169" cy="749169"/>
          </a:xfrm>
          <a:prstGeom prst="roundRect">
            <a:avLst>
              <a:gd name="adj" fmla="val 20343"/>
            </a:avLst>
          </a:prstGeom>
          <a:solidFill>
            <a:srgbClr val="C9A24A">
              <a:alpha val="20000"/>
            </a:srgbClr>
          </a:solidFill>
          <a:ln w="20992">
            <a:solidFill>
              <a:srgbClr val="C9A2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68316" y="19193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161979" y="138410"/>
                  <a:pt x="191988" y="108401"/>
                  <a:pt x="191988" y="71438"/>
                </a:cubicBezTo>
                <a:cubicBezTo>
                  <a:pt x="191988" y="34474"/>
                  <a:pt x="161979" y="4465"/>
                  <a:pt x="125016" y="4465"/>
                </a:cubicBezTo>
                <a:cubicBezTo>
                  <a:pt x="88052" y="4465"/>
                  <a:pt x="58043" y="34474"/>
                  <a:pt x="58043" y="71438"/>
                </a:cubicBezTo>
                <a:cubicBezTo>
                  <a:pt x="58043" y="108401"/>
                  <a:pt x="88052" y="138410"/>
                  <a:pt x="125016" y="138410"/>
                </a:cubicBezTo>
                <a:close/>
                <a:moveTo>
                  <a:pt x="108440" y="169664"/>
                </a:moveTo>
                <a:cubicBezTo>
                  <a:pt x="53467" y="169664"/>
                  <a:pt x="8930" y="214201"/>
                  <a:pt x="8930" y="269174"/>
                </a:cubicBezTo>
                <a:cubicBezTo>
                  <a:pt x="8930" y="278327"/>
                  <a:pt x="16352" y="285750"/>
                  <a:pt x="25505" y="285750"/>
                </a:cubicBezTo>
                <a:lnTo>
                  <a:pt x="224526" y="285750"/>
                </a:lnTo>
                <a:cubicBezTo>
                  <a:pt x="233679" y="285750"/>
                  <a:pt x="241102" y="278327"/>
                  <a:pt x="241102" y="269174"/>
                </a:cubicBezTo>
                <a:cubicBezTo>
                  <a:pt x="241102" y="214201"/>
                  <a:pt x="196565" y="169664"/>
                  <a:pt x="141591" y="169664"/>
                </a:cubicBezTo>
                <a:lnTo>
                  <a:pt x="108440" y="169664"/>
                </a:ln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567164" y="1681307"/>
            <a:ext cx="2952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Yassine, 21 ans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67164" y="2024144"/>
            <a:ext cx="2924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Étudiant Technicien — ISTA Témara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370" y="3026335"/>
            <a:ext cx="1995973" cy="919648"/>
          </a:xfrm>
          <a:prstGeom prst="roundRect">
            <a:avLst>
              <a:gd name="adj" fmla="val 12429"/>
            </a:avLst>
          </a:prstGeom>
          <a:solidFill>
            <a:srgbClr val="0F172A">
              <a:alpha val="60000"/>
            </a:srgbClr>
          </a:solidFill>
          <a:ln w="6997">
            <a:solidFill>
              <a:srgbClr val="C9A24A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00911" y="3181313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9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16-29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4248" y="3562280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Âge cible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67793" y="3026335"/>
            <a:ext cx="1995973" cy="919648"/>
          </a:xfrm>
          <a:prstGeom prst="roundRect">
            <a:avLst>
              <a:gd name="adj" fmla="val 12429"/>
            </a:avLst>
          </a:prstGeom>
          <a:solidFill>
            <a:srgbClr val="0F172A">
              <a:alpha val="60000"/>
            </a:srgbClr>
          </a:solidFill>
          <a:ln w="6997">
            <a:solidFill>
              <a:srgbClr val="C9A24A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851333" y="3181313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9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249 DH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84671" y="3562280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Budget max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18215" y="3026335"/>
            <a:ext cx="1995973" cy="919648"/>
          </a:xfrm>
          <a:prstGeom prst="roundRect">
            <a:avLst>
              <a:gd name="adj" fmla="val 12429"/>
            </a:avLst>
          </a:prstGeom>
          <a:solidFill>
            <a:srgbClr val="0F172A">
              <a:alpha val="60000"/>
            </a:srgbClr>
          </a:solidFill>
          <a:ln w="6997">
            <a:solidFill>
              <a:srgbClr val="C9A24A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001756" y="3181313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9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35093" y="3562280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Campus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3796" y="457644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7688" y="115193"/>
                </a:moveTo>
                <a:lnTo>
                  <a:pt x="77688" y="93762"/>
                </a:lnTo>
                <a:lnTo>
                  <a:pt x="56257" y="93762"/>
                </a:lnTo>
                <a:cubicBezTo>
                  <a:pt x="51803" y="93762"/>
                  <a:pt x="48220" y="90179"/>
                  <a:pt x="48220" y="85725"/>
                </a:cubicBezTo>
                <a:cubicBezTo>
                  <a:pt x="48220" y="81271"/>
                  <a:pt x="51803" y="77688"/>
                  <a:pt x="56257" y="77688"/>
                </a:cubicBezTo>
                <a:lnTo>
                  <a:pt x="77688" y="77688"/>
                </a:lnTo>
                <a:lnTo>
                  <a:pt x="77688" y="56257"/>
                </a:lnTo>
                <a:cubicBezTo>
                  <a:pt x="77688" y="51803"/>
                  <a:pt x="81271" y="48220"/>
                  <a:pt x="85725" y="48220"/>
                </a:cubicBezTo>
                <a:cubicBezTo>
                  <a:pt x="90179" y="48220"/>
                  <a:pt x="93762" y="51803"/>
                  <a:pt x="93762" y="56257"/>
                </a:cubicBezTo>
                <a:lnTo>
                  <a:pt x="93762" y="77688"/>
                </a:lnTo>
                <a:lnTo>
                  <a:pt x="115193" y="77688"/>
                </a:lnTo>
                <a:cubicBezTo>
                  <a:pt x="119647" y="77688"/>
                  <a:pt x="123230" y="81271"/>
                  <a:pt x="123230" y="85725"/>
                </a:cubicBezTo>
                <a:cubicBezTo>
                  <a:pt x="123230" y="90179"/>
                  <a:pt x="119647" y="93762"/>
                  <a:pt x="115193" y="93762"/>
                </a:cubicBezTo>
                <a:lnTo>
                  <a:pt x="93762" y="93762"/>
                </a:lnTo>
                <a:lnTo>
                  <a:pt x="93762" y="115193"/>
                </a:lnTo>
                <a:cubicBezTo>
                  <a:pt x="93762" y="119647"/>
                  <a:pt x="90179" y="123230"/>
                  <a:pt x="85725" y="123230"/>
                </a:cubicBezTo>
                <a:cubicBezTo>
                  <a:pt x="81271" y="123230"/>
                  <a:pt x="77688" y="119647"/>
                  <a:pt x="77688" y="115193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24296" y="4528884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Motivations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4746" y="4947817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0728" y="4909770"/>
            <a:ext cx="2943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Garder son téléphone chargé toute la journée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4746" y="5481221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0728" y="5443172"/>
            <a:ext cx="2943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Économiser et trouver des produits abordables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4746" y="6014624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0728" y="5976577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Indépendance et mobilité sur l'ISTA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59471" y="457644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6257" y="77688"/>
                </a:moveTo>
                <a:lnTo>
                  <a:pt x="115193" y="77688"/>
                </a:lnTo>
                <a:cubicBezTo>
                  <a:pt x="119647" y="77688"/>
                  <a:pt x="123230" y="81271"/>
                  <a:pt x="123230" y="85725"/>
                </a:cubicBezTo>
                <a:cubicBezTo>
                  <a:pt x="123230" y="90179"/>
                  <a:pt x="119647" y="93762"/>
                  <a:pt x="115193" y="93762"/>
                </a:cubicBezTo>
                <a:lnTo>
                  <a:pt x="56257" y="93762"/>
                </a:lnTo>
                <a:cubicBezTo>
                  <a:pt x="51803" y="93762"/>
                  <a:pt x="48220" y="90179"/>
                  <a:pt x="48220" y="85725"/>
                </a:cubicBezTo>
                <a:cubicBezTo>
                  <a:pt x="48220" y="81271"/>
                  <a:pt x="51803" y="77688"/>
                  <a:pt x="56257" y="77688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049971" y="4528884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Frustrations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40421" y="4947817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23115" y="4909770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Batterie qui se vide en pleine journée de cours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40421" y="5481221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023115" y="5443172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Chargeurs bon marché qui tombent en panne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40421" y="6014624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023115" y="5976577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Aucune prise disponible sur l'ISTA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78676" y="1450152"/>
            <a:ext cx="4434373" cy="5024923"/>
          </a:xfrm>
          <a:prstGeom prst="roundRect">
            <a:avLst>
              <a:gd name="adj" fmla="val 3437"/>
            </a:avLst>
          </a:prstGeom>
          <a:solidFill>
            <a:srgbClr val="1E293B">
              <a:alpha val="60000"/>
            </a:srgbClr>
          </a:solidFill>
          <a:ln w="6997">
            <a:solidFill>
              <a:srgbClr val="0D47A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609831" y="1681307"/>
            <a:ext cx="4067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Identité Visuelle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09831" y="2024144"/>
            <a:ext cx="4048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"Énergie, Pureté, Technologie"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09831" y="2405111"/>
            <a:ext cx="40481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L'identité de </a:t>
            </a:r>
            <a:r>
              <a:rPr lang="en-US" sz="1200" b="1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SolarisLux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reflète l'innovation durable. Le contraste entre le bleu profond et le jaune solaire symbolise la transition vers une énergie propre et accessible.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612455" y="3928898"/>
            <a:ext cx="3958123" cy="691048"/>
          </a:xfrm>
          <a:prstGeom prst="roundRect">
            <a:avLst>
              <a:gd name="adj" fmla="val 16540"/>
            </a:avLst>
          </a:prstGeom>
          <a:solidFill>
            <a:srgbClr val="0F172A">
              <a:alpha val="60000"/>
            </a:srgbClr>
          </a:soli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7729304" y="4045746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8338802" y="4045746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Jaune Solaire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38802" y="427436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#C9A24A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612455" y="4739293"/>
            <a:ext cx="3958123" cy="691048"/>
          </a:xfrm>
          <a:prstGeom prst="roundRect">
            <a:avLst>
              <a:gd name="adj" fmla="val 16540"/>
            </a:avLst>
          </a:prstGeom>
          <a:solidFill>
            <a:srgbClr val="0F172A">
              <a:alpha val="60000"/>
            </a:srgbClr>
          </a:solidFill>
          <a:ln w="6997">
            <a:solidFill>
              <a:srgbClr val="0D47A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7729304" y="4856143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8338802" y="4856143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Bleu Nuit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38802" y="5084755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#0D47A1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612455" y="5549690"/>
            <a:ext cx="3958123" cy="691048"/>
          </a:xfrm>
          <a:prstGeom prst="roundRect">
            <a:avLst>
              <a:gd name="adj" fmla="val 16540"/>
            </a:avLst>
          </a:prstGeom>
          <a:solidFill>
            <a:srgbClr val="0F172A">
              <a:alpha val="60000"/>
            </a:srgbClr>
          </a:solidFill>
          <a:ln w="6997">
            <a:solidFill>
              <a:srgbClr val="37474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7729304" y="5666538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3747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8338802" y="5666538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Gris Anthracite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38802" y="5895152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#37474F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rkeenan.com/7ab17ac197bb2f20cb9c3c650db5189de8b92772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14844" b="148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F172A">
                  <a:alpha val="98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D47A1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8991759" y="1061640"/>
            <a:ext cx="1524000" cy="57150"/>
          </a:xfrm>
          <a:prstGeom prst="roundRect">
            <a:avLst>
              <a:gd name="adj" fmla="val 0"/>
            </a:avLst>
          </a:pr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10752113" y="564726"/>
            <a:ext cx="1053969" cy="1053969"/>
          </a:xfrm>
          <a:prstGeom prst="roundRect">
            <a:avLst>
              <a:gd name="adj" fmla="val 21689"/>
            </a:avLst>
          </a:prstGeom>
          <a:solidFill>
            <a:srgbClr val="0D47A1">
              <a:alpha val="30196"/>
            </a:srgbClr>
          </a:solidFill>
          <a:ln w="20992">
            <a:solidFill>
              <a:srgbClr val="0D47A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10643481" y="804409"/>
            <a:ext cx="9810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500" b="1" dirty="0">
                <a:solidFill>
                  <a:srgbClr val="C9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38639" y="2004545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Modèle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10089" y="3223706"/>
            <a:ext cx="7600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500" b="1" dirty="0">
                <a:solidFill>
                  <a:srgbClr val="C9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Économique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81539" y="4176206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Analyse de la viabilité financière, du Business Model Canvas et des projections de rentabilité du projet Solaris Lux.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55195" y="5378884"/>
            <a:ext cx="2405548" cy="919648"/>
          </a:xfrm>
          <a:prstGeom prst="roundRect">
            <a:avLst>
              <a:gd name="adj" fmla="val 12429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7178087" y="569572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85973" y="133945"/>
                </a:moveTo>
                <a:lnTo>
                  <a:pt x="187747" y="133945"/>
                </a:lnTo>
                <a:cubicBezTo>
                  <a:pt x="177868" y="133945"/>
                  <a:pt x="169887" y="125964"/>
                  <a:pt x="169887" y="116086"/>
                </a:cubicBezTo>
                <a:lnTo>
                  <a:pt x="169887" y="17859"/>
                </a:lnTo>
                <a:cubicBezTo>
                  <a:pt x="169887" y="7981"/>
                  <a:pt x="177924" y="-112"/>
                  <a:pt x="187691" y="1172"/>
                </a:cubicBezTo>
                <a:cubicBezTo>
                  <a:pt x="247408" y="9097"/>
                  <a:pt x="294735" y="56424"/>
                  <a:pt x="302661" y="116142"/>
                </a:cubicBezTo>
                <a:cubicBezTo>
                  <a:pt x="303944" y="125909"/>
                  <a:pt x="295852" y="133945"/>
                  <a:pt x="285973" y="133945"/>
                </a:cubicBezTo>
                <a:close/>
                <a:moveTo>
                  <a:pt x="124234" y="20762"/>
                </a:moveTo>
                <a:cubicBezTo>
                  <a:pt x="134336" y="18641"/>
                  <a:pt x="143098" y="26901"/>
                  <a:pt x="143098" y="37226"/>
                </a:cubicBezTo>
                <a:lnTo>
                  <a:pt x="143098" y="147340"/>
                </a:lnTo>
                <a:cubicBezTo>
                  <a:pt x="143098" y="150465"/>
                  <a:pt x="144214" y="153479"/>
                  <a:pt x="146168" y="155879"/>
                </a:cubicBezTo>
                <a:lnTo>
                  <a:pt x="219894" y="244841"/>
                </a:lnTo>
                <a:cubicBezTo>
                  <a:pt x="226423" y="252710"/>
                  <a:pt x="225028" y="264598"/>
                  <a:pt x="216043" y="269453"/>
                </a:cubicBezTo>
                <a:cubicBezTo>
                  <a:pt x="197011" y="279834"/>
                  <a:pt x="175189" y="285750"/>
                  <a:pt x="152028" y="285750"/>
                </a:cubicBezTo>
                <a:cubicBezTo>
                  <a:pt x="78079" y="285750"/>
                  <a:pt x="18083" y="225754"/>
                  <a:pt x="18083" y="151805"/>
                </a:cubicBezTo>
                <a:cubicBezTo>
                  <a:pt x="18083" y="87344"/>
                  <a:pt x="63568" y="33542"/>
                  <a:pt x="124234" y="20762"/>
                </a:cubicBezTo>
                <a:close/>
                <a:moveTo>
                  <a:pt x="266663" y="160734"/>
                </a:moveTo>
                <a:lnTo>
                  <a:pt x="302382" y="160734"/>
                </a:lnTo>
                <a:cubicBezTo>
                  <a:pt x="312706" y="160734"/>
                  <a:pt x="320966" y="169497"/>
                  <a:pt x="318846" y="179598"/>
                </a:cubicBezTo>
                <a:cubicBezTo>
                  <a:pt x="313153" y="206611"/>
                  <a:pt x="299312" y="230609"/>
                  <a:pt x="280002" y="248915"/>
                </a:cubicBezTo>
                <a:cubicBezTo>
                  <a:pt x="273137" y="255445"/>
                  <a:pt x="262365" y="254050"/>
                  <a:pt x="256338" y="246738"/>
                </a:cubicBezTo>
                <a:lnTo>
                  <a:pt x="209234" y="189979"/>
                </a:lnTo>
                <a:cubicBezTo>
                  <a:pt x="199579" y="178315"/>
                  <a:pt x="207894" y="160734"/>
                  <a:pt x="222963" y="160734"/>
                </a:cubicBezTo>
                <a:lnTo>
                  <a:pt x="266607" y="160734"/>
                </a:ln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7672150" y="5571992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BMC Complet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72150" y="5838653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 blocs analysés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573132" y="5378884"/>
            <a:ext cx="2234098" cy="919648"/>
          </a:xfrm>
          <a:prstGeom prst="roundRect">
            <a:avLst>
              <a:gd name="adj" fmla="val 12429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0D47A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9913883" y="569572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53578"/>
                </a:moveTo>
                <a:lnTo>
                  <a:pt x="71438" y="44648"/>
                </a:lnTo>
                <a:cubicBezTo>
                  <a:pt x="71438" y="19980"/>
                  <a:pt x="119435" y="0"/>
                  <a:pt x="178594" y="0"/>
                </a:cubicBezTo>
                <a:cubicBezTo>
                  <a:pt x="237753" y="0"/>
                  <a:pt x="285750" y="19980"/>
                  <a:pt x="285750" y="44648"/>
                </a:cubicBezTo>
                <a:lnTo>
                  <a:pt x="285750" y="53578"/>
                </a:lnTo>
                <a:cubicBezTo>
                  <a:pt x="285750" y="70656"/>
                  <a:pt x="262700" y="85502"/>
                  <a:pt x="228823" y="93036"/>
                </a:cubicBezTo>
                <a:cubicBezTo>
                  <a:pt x="227484" y="91473"/>
                  <a:pt x="226089" y="89967"/>
                  <a:pt x="224693" y="88571"/>
                </a:cubicBezTo>
                <a:cubicBezTo>
                  <a:pt x="216043" y="80032"/>
                  <a:pt x="204881" y="73558"/>
                  <a:pt x="193216" y="68759"/>
                </a:cubicBezTo>
                <a:cubicBezTo>
                  <a:pt x="169831" y="58992"/>
                  <a:pt x="139359" y="53634"/>
                  <a:pt x="107156" y="53634"/>
                </a:cubicBezTo>
                <a:cubicBezTo>
                  <a:pt x="94934" y="53634"/>
                  <a:pt x="82990" y="54415"/>
                  <a:pt x="71549" y="55922"/>
                </a:cubicBezTo>
                <a:cubicBezTo>
                  <a:pt x="71438" y="55197"/>
                  <a:pt x="71438" y="54415"/>
                  <a:pt x="71438" y="53634"/>
                </a:cubicBezTo>
                <a:close/>
                <a:moveTo>
                  <a:pt x="241102" y="197011"/>
                </a:moveTo>
                <a:lnTo>
                  <a:pt x="241102" y="171227"/>
                </a:lnTo>
                <a:cubicBezTo>
                  <a:pt x="249529" y="169050"/>
                  <a:pt x="257454" y="166483"/>
                  <a:pt x="264654" y="163469"/>
                </a:cubicBezTo>
                <a:cubicBezTo>
                  <a:pt x="272021" y="160400"/>
                  <a:pt x="279220" y="156660"/>
                  <a:pt x="285750" y="152140"/>
                </a:cubicBezTo>
                <a:lnTo>
                  <a:pt x="285750" y="160734"/>
                </a:lnTo>
                <a:cubicBezTo>
                  <a:pt x="285750" y="175692"/>
                  <a:pt x="268170" y="188919"/>
                  <a:pt x="241102" y="197011"/>
                </a:cubicBezTo>
                <a:close/>
                <a:moveTo>
                  <a:pt x="241102" y="143433"/>
                </a:moveTo>
                <a:lnTo>
                  <a:pt x="241102" y="125016"/>
                </a:lnTo>
                <a:cubicBezTo>
                  <a:pt x="241102" y="122504"/>
                  <a:pt x="240878" y="120104"/>
                  <a:pt x="240543" y="117760"/>
                </a:cubicBezTo>
                <a:cubicBezTo>
                  <a:pt x="249194" y="115584"/>
                  <a:pt x="257287" y="112961"/>
                  <a:pt x="264654" y="109835"/>
                </a:cubicBezTo>
                <a:cubicBezTo>
                  <a:pt x="272021" y="106710"/>
                  <a:pt x="279220" y="103026"/>
                  <a:pt x="285750" y="98506"/>
                </a:cubicBezTo>
                <a:lnTo>
                  <a:pt x="285750" y="107100"/>
                </a:lnTo>
                <a:cubicBezTo>
                  <a:pt x="285750" y="122058"/>
                  <a:pt x="268170" y="135285"/>
                  <a:pt x="241102" y="143377"/>
                </a:cubicBezTo>
                <a:close/>
                <a:moveTo>
                  <a:pt x="0" y="133945"/>
                </a:moveTo>
                <a:lnTo>
                  <a:pt x="0" y="125016"/>
                </a:lnTo>
                <a:cubicBezTo>
                  <a:pt x="0" y="100347"/>
                  <a:pt x="47997" y="80367"/>
                  <a:pt x="107156" y="80367"/>
                </a:cubicBezTo>
                <a:cubicBezTo>
                  <a:pt x="166315" y="80367"/>
                  <a:pt x="214313" y="100347"/>
                  <a:pt x="214313" y="125016"/>
                </a:cubicBezTo>
                <a:lnTo>
                  <a:pt x="214313" y="133945"/>
                </a:lnTo>
                <a:cubicBezTo>
                  <a:pt x="214313" y="158614"/>
                  <a:pt x="166315" y="178594"/>
                  <a:pt x="107156" y="178594"/>
                </a:cubicBezTo>
                <a:cubicBezTo>
                  <a:pt x="47997" y="178594"/>
                  <a:pt x="0" y="158614"/>
                  <a:pt x="0" y="133945"/>
                </a:cubicBezTo>
                <a:close/>
                <a:moveTo>
                  <a:pt x="214313" y="187523"/>
                </a:moveTo>
                <a:cubicBezTo>
                  <a:pt x="214313" y="212192"/>
                  <a:pt x="166315" y="232172"/>
                  <a:pt x="107156" y="232172"/>
                </a:cubicBezTo>
                <a:cubicBezTo>
                  <a:pt x="47997" y="232172"/>
                  <a:pt x="0" y="212192"/>
                  <a:pt x="0" y="187523"/>
                </a:cubicBezTo>
                <a:lnTo>
                  <a:pt x="0" y="178929"/>
                </a:lnTo>
                <a:cubicBezTo>
                  <a:pt x="6474" y="183449"/>
                  <a:pt x="13674" y="187133"/>
                  <a:pt x="21096" y="190258"/>
                </a:cubicBezTo>
                <a:cubicBezTo>
                  <a:pt x="44481" y="200025"/>
                  <a:pt x="74954" y="205383"/>
                  <a:pt x="107156" y="205383"/>
                </a:cubicBezTo>
                <a:cubicBezTo>
                  <a:pt x="139359" y="205383"/>
                  <a:pt x="169831" y="199969"/>
                  <a:pt x="193216" y="190258"/>
                </a:cubicBezTo>
                <a:cubicBezTo>
                  <a:pt x="200583" y="187189"/>
                  <a:pt x="207783" y="183449"/>
                  <a:pt x="214313" y="178929"/>
                </a:cubicBezTo>
                <a:lnTo>
                  <a:pt x="214313" y="187523"/>
                </a:lnTo>
                <a:close/>
                <a:moveTo>
                  <a:pt x="214313" y="232507"/>
                </a:moveTo>
                <a:lnTo>
                  <a:pt x="214313" y="241102"/>
                </a:lnTo>
                <a:cubicBezTo>
                  <a:pt x="214313" y="265770"/>
                  <a:pt x="166315" y="285750"/>
                  <a:pt x="107156" y="285750"/>
                </a:cubicBezTo>
                <a:cubicBezTo>
                  <a:pt x="47997" y="285750"/>
                  <a:pt x="0" y="265770"/>
                  <a:pt x="0" y="241102"/>
                </a:cubicBezTo>
                <a:lnTo>
                  <a:pt x="0" y="232507"/>
                </a:lnTo>
                <a:cubicBezTo>
                  <a:pt x="6474" y="237027"/>
                  <a:pt x="13674" y="240711"/>
                  <a:pt x="21096" y="243836"/>
                </a:cubicBezTo>
                <a:cubicBezTo>
                  <a:pt x="44481" y="253603"/>
                  <a:pt x="74954" y="258961"/>
                  <a:pt x="107156" y="258961"/>
                </a:cubicBezTo>
                <a:cubicBezTo>
                  <a:pt x="139359" y="258961"/>
                  <a:pt x="169831" y="253547"/>
                  <a:pt x="193216" y="243836"/>
                </a:cubicBezTo>
                <a:cubicBezTo>
                  <a:pt x="200583" y="240767"/>
                  <a:pt x="207783" y="237027"/>
                  <a:pt x="214313" y="232507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10390088" y="5571992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Rentabilité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390088" y="5838653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Marge de 51%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73" y="317473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 — Modèle Économique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473" y="57146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 Canvas (BMC)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473" y="984124"/>
            <a:ext cx="762000" cy="31750"/>
          </a:xfrm>
          <a:prstGeom prst="roundRect">
            <a:avLst>
              <a:gd name="adj" fmla="val 0"/>
            </a:avLst>
          </a:pr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19659" y="1144979"/>
            <a:ext cx="2234811" cy="1734748"/>
          </a:xfrm>
          <a:prstGeom prst="roundRect">
            <a:avLst>
              <a:gd name="adj" fmla="val 5491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46823" y="1313829"/>
            <a:ext cx="138906" cy="111125"/>
          </a:xfrm>
          <a:custGeom>
            <a:avLst/>
            <a:gdLst/>
            <a:ahLst/>
            <a:cxnLst/>
            <a:rect l="l" t="t" r="r" b="b"/>
            <a:pathLst>
              <a:path w="138906" h="111125">
                <a:moveTo>
                  <a:pt x="69453" y="3473"/>
                </a:moveTo>
                <a:cubicBezTo>
                  <a:pt x="81911" y="3473"/>
                  <a:pt x="92025" y="13587"/>
                  <a:pt x="92025" y="26045"/>
                </a:cubicBezTo>
                <a:cubicBezTo>
                  <a:pt x="92025" y="38503"/>
                  <a:pt x="81911" y="48617"/>
                  <a:pt x="69453" y="48617"/>
                </a:cubicBezTo>
                <a:cubicBezTo>
                  <a:pt x="56995" y="48617"/>
                  <a:pt x="46881" y="38503"/>
                  <a:pt x="46881" y="26045"/>
                </a:cubicBezTo>
                <a:cubicBezTo>
                  <a:pt x="46881" y="13587"/>
                  <a:pt x="56995" y="3473"/>
                  <a:pt x="69453" y="3473"/>
                </a:cubicBezTo>
                <a:close/>
                <a:moveTo>
                  <a:pt x="20836" y="19100"/>
                </a:moveTo>
                <a:cubicBezTo>
                  <a:pt x="29461" y="19100"/>
                  <a:pt x="36463" y="26102"/>
                  <a:pt x="36463" y="34727"/>
                </a:cubicBezTo>
                <a:cubicBezTo>
                  <a:pt x="36463" y="43351"/>
                  <a:pt x="29461" y="50354"/>
                  <a:pt x="20836" y="50354"/>
                </a:cubicBezTo>
                <a:cubicBezTo>
                  <a:pt x="12211" y="50354"/>
                  <a:pt x="5209" y="43351"/>
                  <a:pt x="5209" y="34727"/>
                </a:cubicBezTo>
                <a:cubicBezTo>
                  <a:pt x="5209" y="26102"/>
                  <a:pt x="12211" y="19100"/>
                  <a:pt x="20836" y="19100"/>
                </a:cubicBezTo>
                <a:close/>
                <a:moveTo>
                  <a:pt x="0" y="90289"/>
                </a:moveTo>
                <a:cubicBezTo>
                  <a:pt x="0" y="74944"/>
                  <a:pt x="12436" y="62508"/>
                  <a:pt x="27781" y="62508"/>
                </a:cubicBezTo>
                <a:cubicBezTo>
                  <a:pt x="30559" y="62508"/>
                  <a:pt x="33251" y="62920"/>
                  <a:pt x="35790" y="63680"/>
                </a:cubicBezTo>
                <a:cubicBezTo>
                  <a:pt x="28649" y="71667"/>
                  <a:pt x="24309" y="82215"/>
                  <a:pt x="24309" y="93762"/>
                </a:cubicBezTo>
                <a:lnTo>
                  <a:pt x="24309" y="97234"/>
                </a:lnTo>
                <a:cubicBezTo>
                  <a:pt x="24309" y="99709"/>
                  <a:pt x="24829" y="102053"/>
                  <a:pt x="25763" y="104180"/>
                </a:cubicBezTo>
                <a:lnTo>
                  <a:pt x="6945" y="104180"/>
                </a:lnTo>
                <a:cubicBezTo>
                  <a:pt x="3104" y="104180"/>
                  <a:pt x="0" y="101076"/>
                  <a:pt x="0" y="97234"/>
                </a:cubicBezTo>
                <a:lnTo>
                  <a:pt x="0" y="90289"/>
                </a:lnTo>
                <a:close/>
                <a:moveTo>
                  <a:pt x="113143" y="104180"/>
                </a:moveTo>
                <a:cubicBezTo>
                  <a:pt x="114077" y="102053"/>
                  <a:pt x="114598" y="99709"/>
                  <a:pt x="114598" y="97234"/>
                </a:cubicBezTo>
                <a:lnTo>
                  <a:pt x="114598" y="93762"/>
                </a:lnTo>
                <a:cubicBezTo>
                  <a:pt x="114598" y="82215"/>
                  <a:pt x="110257" y="71667"/>
                  <a:pt x="103116" y="63680"/>
                </a:cubicBezTo>
                <a:cubicBezTo>
                  <a:pt x="105656" y="62920"/>
                  <a:pt x="108347" y="62508"/>
                  <a:pt x="111125" y="62508"/>
                </a:cubicBezTo>
                <a:cubicBezTo>
                  <a:pt x="126470" y="62508"/>
                  <a:pt x="138906" y="74944"/>
                  <a:pt x="138906" y="90289"/>
                </a:cubicBezTo>
                <a:lnTo>
                  <a:pt x="138906" y="97234"/>
                </a:lnTo>
                <a:cubicBezTo>
                  <a:pt x="138906" y="101076"/>
                  <a:pt x="135803" y="104180"/>
                  <a:pt x="131961" y="104180"/>
                </a:cubicBezTo>
                <a:lnTo>
                  <a:pt x="113143" y="104180"/>
                </a:lnTo>
                <a:close/>
                <a:moveTo>
                  <a:pt x="102443" y="34727"/>
                </a:moveTo>
                <a:cubicBezTo>
                  <a:pt x="102443" y="26102"/>
                  <a:pt x="109446" y="19100"/>
                  <a:pt x="118070" y="19100"/>
                </a:cubicBezTo>
                <a:cubicBezTo>
                  <a:pt x="126695" y="19100"/>
                  <a:pt x="133697" y="26102"/>
                  <a:pt x="133697" y="34727"/>
                </a:cubicBezTo>
                <a:cubicBezTo>
                  <a:pt x="133697" y="43351"/>
                  <a:pt x="126695" y="50354"/>
                  <a:pt x="118070" y="50354"/>
                </a:cubicBezTo>
                <a:cubicBezTo>
                  <a:pt x="109446" y="50354"/>
                  <a:pt x="102443" y="43351"/>
                  <a:pt x="102443" y="34727"/>
                </a:cubicBezTo>
                <a:close/>
                <a:moveTo>
                  <a:pt x="34727" y="93762"/>
                </a:moveTo>
                <a:cubicBezTo>
                  <a:pt x="34727" y="74575"/>
                  <a:pt x="50267" y="59035"/>
                  <a:pt x="69453" y="59035"/>
                </a:cubicBezTo>
                <a:cubicBezTo>
                  <a:pt x="88640" y="59035"/>
                  <a:pt x="104180" y="74575"/>
                  <a:pt x="104180" y="93762"/>
                </a:cubicBezTo>
                <a:lnTo>
                  <a:pt x="104180" y="97234"/>
                </a:lnTo>
                <a:cubicBezTo>
                  <a:pt x="104180" y="101076"/>
                  <a:pt x="101076" y="104180"/>
                  <a:pt x="97234" y="104180"/>
                </a:cubicBezTo>
                <a:lnTo>
                  <a:pt x="41672" y="104180"/>
                </a:lnTo>
                <a:cubicBezTo>
                  <a:pt x="37830" y="104180"/>
                  <a:pt x="34727" y="101076"/>
                  <a:pt x="34727" y="97234"/>
                </a:cubicBezTo>
                <a:lnTo>
                  <a:pt x="34727" y="93762"/>
                </a:ln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83745" y="1274128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Partenaires Clés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808" y="1528118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9319" y="1528118"/>
            <a:ext cx="173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Fournisseurs de composants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808" y="1750337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9319" y="1750337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Atelier d'assemblage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808" y="1972554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9319" y="1972554"/>
            <a:ext cx="161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ISTA (installation kiosques)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808" y="2194769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9319" y="2194769"/>
            <a:ext cx="149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Service de livraison local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50070" y="1144979"/>
            <a:ext cx="2234811" cy="1734748"/>
          </a:xfrm>
          <a:prstGeom prst="roundRect">
            <a:avLst>
              <a:gd name="adj" fmla="val 5491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0D47A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91124" y="1313829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9040" y="7879"/>
                </a:moveTo>
                <a:cubicBezTo>
                  <a:pt x="31406" y="9528"/>
                  <a:pt x="31970" y="12784"/>
                  <a:pt x="30321" y="15128"/>
                </a:cubicBezTo>
                <a:lnTo>
                  <a:pt x="18166" y="32491"/>
                </a:lnTo>
                <a:cubicBezTo>
                  <a:pt x="17276" y="33750"/>
                  <a:pt x="15887" y="34553"/>
                  <a:pt x="14346" y="34683"/>
                </a:cubicBezTo>
                <a:cubicBezTo>
                  <a:pt x="12805" y="34813"/>
                  <a:pt x="11286" y="34292"/>
                  <a:pt x="10201" y="33207"/>
                </a:cubicBezTo>
                <a:lnTo>
                  <a:pt x="1519" y="24526"/>
                </a:lnTo>
                <a:cubicBezTo>
                  <a:pt x="-499" y="22485"/>
                  <a:pt x="-499" y="19186"/>
                  <a:pt x="1519" y="17146"/>
                </a:cubicBezTo>
                <a:cubicBezTo>
                  <a:pt x="3538" y="15106"/>
                  <a:pt x="6858" y="15128"/>
                  <a:pt x="8899" y="17146"/>
                </a:cubicBezTo>
                <a:lnTo>
                  <a:pt x="13196" y="21444"/>
                </a:lnTo>
                <a:lnTo>
                  <a:pt x="21791" y="9159"/>
                </a:lnTo>
                <a:cubicBezTo>
                  <a:pt x="23440" y="6793"/>
                  <a:pt x="26696" y="6229"/>
                  <a:pt x="29040" y="7879"/>
                </a:cubicBezTo>
                <a:close/>
                <a:moveTo>
                  <a:pt x="29040" y="42605"/>
                </a:moveTo>
                <a:cubicBezTo>
                  <a:pt x="31406" y="44255"/>
                  <a:pt x="31970" y="47510"/>
                  <a:pt x="30321" y="49854"/>
                </a:cubicBezTo>
                <a:lnTo>
                  <a:pt x="18166" y="67218"/>
                </a:lnTo>
                <a:cubicBezTo>
                  <a:pt x="17276" y="68476"/>
                  <a:pt x="15887" y="69279"/>
                  <a:pt x="14346" y="69410"/>
                </a:cubicBezTo>
                <a:cubicBezTo>
                  <a:pt x="12805" y="69540"/>
                  <a:pt x="11286" y="69019"/>
                  <a:pt x="10201" y="67934"/>
                </a:cubicBezTo>
                <a:lnTo>
                  <a:pt x="1519" y="59252"/>
                </a:lnTo>
                <a:cubicBezTo>
                  <a:pt x="-521" y="57212"/>
                  <a:pt x="-521" y="53913"/>
                  <a:pt x="1519" y="51895"/>
                </a:cubicBezTo>
                <a:cubicBezTo>
                  <a:pt x="3559" y="49876"/>
                  <a:pt x="6858" y="49854"/>
                  <a:pt x="8877" y="51895"/>
                </a:cubicBezTo>
                <a:lnTo>
                  <a:pt x="13174" y="56192"/>
                </a:lnTo>
                <a:lnTo>
                  <a:pt x="21769" y="43907"/>
                </a:lnTo>
                <a:cubicBezTo>
                  <a:pt x="23419" y="41542"/>
                  <a:pt x="26674" y="40977"/>
                  <a:pt x="29018" y="42627"/>
                </a:cubicBezTo>
                <a:close/>
                <a:moveTo>
                  <a:pt x="48617" y="20836"/>
                </a:moveTo>
                <a:cubicBezTo>
                  <a:pt x="48617" y="16994"/>
                  <a:pt x="51721" y="13891"/>
                  <a:pt x="55563" y="13891"/>
                </a:cubicBezTo>
                <a:lnTo>
                  <a:pt x="104180" y="13891"/>
                </a:lnTo>
                <a:cubicBezTo>
                  <a:pt x="108021" y="13891"/>
                  <a:pt x="111125" y="16994"/>
                  <a:pt x="111125" y="20836"/>
                </a:cubicBezTo>
                <a:cubicBezTo>
                  <a:pt x="111125" y="24678"/>
                  <a:pt x="108021" y="27781"/>
                  <a:pt x="104180" y="27781"/>
                </a:cubicBezTo>
                <a:lnTo>
                  <a:pt x="55563" y="27781"/>
                </a:lnTo>
                <a:cubicBezTo>
                  <a:pt x="51721" y="27781"/>
                  <a:pt x="48617" y="24678"/>
                  <a:pt x="48617" y="20836"/>
                </a:cubicBezTo>
                <a:close/>
                <a:moveTo>
                  <a:pt x="48617" y="55563"/>
                </a:moveTo>
                <a:cubicBezTo>
                  <a:pt x="48617" y="51721"/>
                  <a:pt x="51721" y="48617"/>
                  <a:pt x="55563" y="48617"/>
                </a:cubicBezTo>
                <a:lnTo>
                  <a:pt x="104180" y="48617"/>
                </a:lnTo>
                <a:cubicBezTo>
                  <a:pt x="108021" y="48617"/>
                  <a:pt x="111125" y="51721"/>
                  <a:pt x="111125" y="55563"/>
                </a:cubicBezTo>
                <a:cubicBezTo>
                  <a:pt x="111125" y="59404"/>
                  <a:pt x="108021" y="62508"/>
                  <a:pt x="104180" y="62508"/>
                </a:cubicBezTo>
                <a:lnTo>
                  <a:pt x="55563" y="62508"/>
                </a:lnTo>
                <a:cubicBezTo>
                  <a:pt x="51721" y="62508"/>
                  <a:pt x="48617" y="59404"/>
                  <a:pt x="48617" y="55563"/>
                </a:cubicBezTo>
                <a:close/>
                <a:moveTo>
                  <a:pt x="34727" y="90289"/>
                </a:moveTo>
                <a:cubicBezTo>
                  <a:pt x="34727" y="86447"/>
                  <a:pt x="37830" y="83344"/>
                  <a:pt x="41672" y="83344"/>
                </a:cubicBezTo>
                <a:lnTo>
                  <a:pt x="104180" y="83344"/>
                </a:lnTo>
                <a:cubicBezTo>
                  <a:pt x="108021" y="83344"/>
                  <a:pt x="111125" y="86447"/>
                  <a:pt x="111125" y="90289"/>
                </a:cubicBezTo>
                <a:cubicBezTo>
                  <a:pt x="111125" y="94131"/>
                  <a:pt x="108021" y="97234"/>
                  <a:pt x="104180" y="97234"/>
                </a:cubicBezTo>
                <a:lnTo>
                  <a:pt x="41672" y="97234"/>
                </a:lnTo>
                <a:cubicBezTo>
                  <a:pt x="37830" y="97234"/>
                  <a:pt x="34727" y="94131"/>
                  <a:pt x="34727" y="90289"/>
                </a:cubicBezTo>
                <a:close/>
                <a:moveTo>
                  <a:pt x="13891" y="81607"/>
                </a:moveTo>
                <a:cubicBezTo>
                  <a:pt x="18682" y="81607"/>
                  <a:pt x="22572" y="85498"/>
                  <a:pt x="22572" y="90289"/>
                </a:cubicBezTo>
                <a:cubicBezTo>
                  <a:pt x="22572" y="95081"/>
                  <a:pt x="18682" y="98971"/>
                  <a:pt x="13891" y="98971"/>
                </a:cubicBezTo>
                <a:cubicBezTo>
                  <a:pt x="9099" y="98971"/>
                  <a:pt x="5209" y="95081"/>
                  <a:pt x="5209" y="90289"/>
                </a:cubicBezTo>
                <a:cubicBezTo>
                  <a:pt x="5209" y="85498"/>
                  <a:pt x="9099" y="81607"/>
                  <a:pt x="13891" y="81607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914155" y="1274128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Activités Clés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79218" y="1528118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D47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69729" y="1528118"/>
            <a:ext cx="168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Production des powerbanks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79218" y="1750337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D47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969729" y="1750337"/>
            <a:ext cx="123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Installation kiosques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79218" y="1972554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D47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69729" y="1972554"/>
            <a:ext cx="1150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Vente &amp; marketing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80480" y="1144979"/>
            <a:ext cx="2234811" cy="1734748"/>
          </a:xfrm>
          <a:prstGeom prst="roundRect">
            <a:avLst>
              <a:gd name="adj" fmla="val 5491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5121535" y="1313829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5329" y="7336"/>
                </a:moveTo>
                <a:cubicBezTo>
                  <a:pt x="26305" y="6012"/>
                  <a:pt x="27868" y="5209"/>
                  <a:pt x="29518" y="5209"/>
                </a:cubicBezTo>
                <a:lnTo>
                  <a:pt x="81607" y="5209"/>
                </a:lnTo>
                <a:cubicBezTo>
                  <a:pt x="83257" y="5209"/>
                  <a:pt x="84820" y="5990"/>
                  <a:pt x="85796" y="7336"/>
                </a:cubicBezTo>
                <a:lnTo>
                  <a:pt x="110105" y="40326"/>
                </a:lnTo>
                <a:cubicBezTo>
                  <a:pt x="111581" y="42323"/>
                  <a:pt x="111429" y="45079"/>
                  <a:pt x="109779" y="46924"/>
                </a:cubicBezTo>
                <a:lnTo>
                  <a:pt x="59426" y="102487"/>
                </a:lnTo>
                <a:cubicBezTo>
                  <a:pt x="58449" y="103572"/>
                  <a:pt x="57038" y="104201"/>
                  <a:pt x="55563" y="104201"/>
                </a:cubicBezTo>
                <a:cubicBezTo>
                  <a:pt x="54087" y="104201"/>
                  <a:pt x="52698" y="103572"/>
                  <a:pt x="51699" y="102487"/>
                </a:cubicBezTo>
                <a:lnTo>
                  <a:pt x="1346" y="46924"/>
                </a:lnTo>
                <a:cubicBezTo>
                  <a:pt x="-326" y="45079"/>
                  <a:pt x="-456" y="42323"/>
                  <a:pt x="1020" y="40326"/>
                </a:cubicBezTo>
                <a:lnTo>
                  <a:pt x="25329" y="7336"/>
                </a:lnTo>
                <a:close/>
                <a:moveTo>
                  <a:pt x="33685" y="15974"/>
                </a:moveTo>
                <a:cubicBezTo>
                  <a:pt x="32969" y="16517"/>
                  <a:pt x="32773" y="17494"/>
                  <a:pt x="33229" y="18253"/>
                </a:cubicBezTo>
                <a:lnTo>
                  <a:pt x="45687" y="39024"/>
                </a:lnTo>
                <a:lnTo>
                  <a:pt x="13739" y="41672"/>
                </a:lnTo>
                <a:cubicBezTo>
                  <a:pt x="12849" y="41737"/>
                  <a:pt x="12154" y="42497"/>
                  <a:pt x="12154" y="43408"/>
                </a:cubicBezTo>
                <a:cubicBezTo>
                  <a:pt x="12154" y="44320"/>
                  <a:pt x="12849" y="45058"/>
                  <a:pt x="13739" y="45145"/>
                </a:cubicBezTo>
                <a:lnTo>
                  <a:pt x="55411" y="48617"/>
                </a:lnTo>
                <a:cubicBezTo>
                  <a:pt x="55497" y="48617"/>
                  <a:pt x="55606" y="48617"/>
                  <a:pt x="55693" y="48617"/>
                </a:cubicBezTo>
                <a:lnTo>
                  <a:pt x="97365" y="45145"/>
                </a:lnTo>
                <a:cubicBezTo>
                  <a:pt x="98254" y="45079"/>
                  <a:pt x="98949" y="44320"/>
                  <a:pt x="98949" y="43408"/>
                </a:cubicBezTo>
                <a:cubicBezTo>
                  <a:pt x="98949" y="42497"/>
                  <a:pt x="98254" y="41759"/>
                  <a:pt x="97365" y="41672"/>
                </a:cubicBezTo>
                <a:lnTo>
                  <a:pt x="65416" y="39002"/>
                </a:lnTo>
                <a:lnTo>
                  <a:pt x="77874" y="18253"/>
                </a:lnTo>
                <a:cubicBezTo>
                  <a:pt x="78330" y="17494"/>
                  <a:pt x="78135" y="16495"/>
                  <a:pt x="77419" y="15974"/>
                </a:cubicBezTo>
                <a:cubicBezTo>
                  <a:pt x="76702" y="15453"/>
                  <a:pt x="75704" y="15540"/>
                  <a:pt x="75096" y="16191"/>
                </a:cubicBezTo>
                <a:lnTo>
                  <a:pt x="55563" y="37374"/>
                </a:lnTo>
                <a:lnTo>
                  <a:pt x="36007" y="16191"/>
                </a:lnTo>
                <a:cubicBezTo>
                  <a:pt x="35399" y="15540"/>
                  <a:pt x="34401" y="15453"/>
                  <a:pt x="33685" y="15974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244566" y="1274128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Proposition de Valeur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09629" y="1528118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0139" y="1528118"/>
            <a:ext cx="148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Recharge facile sur ISTA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09629" y="1750337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00139" y="1750337"/>
            <a:ext cx="165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Powerbank solaire pratique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09629" y="1972554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0139" y="1972554"/>
            <a:ext cx="1849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Produits de qualité à prix étudiant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10959" y="1144979"/>
            <a:ext cx="2234811" cy="1734748"/>
          </a:xfrm>
          <a:prstGeom prst="roundRect">
            <a:avLst>
              <a:gd name="adj" fmla="val 5491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0D47A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7445068" y="1313829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58362" y="18492"/>
                </a:moveTo>
                <a:lnTo>
                  <a:pt x="33055" y="46620"/>
                </a:lnTo>
                <a:cubicBezTo>
                  <a:pt x="32057" y="47727"/>
                  <a:pt x="32100" y="49442"/>
                  <a:pt x="33164" y="50505"/>
                </a:cubicBezTo>
                <a:cubicBezTo>
                  <a:pt x="39784" y="57125"/>
                  <a:pt x="50527" y="57125"/>
                  <a:pt x="57147" y="50505"/>
                </a:cubicBezTo>
                <a:lnTo>
                  <a:pt x="64049" y="43604"/>
                </a:lnTo>
                <a:cubicBezTo>
                  <a:pt x="64960" y="42692"/>
                  <a:pt x="66111" y="42193"/>
                  <a:pt x="67283" y="42106"/>
                </a:cubicBezTo>
                <a:cubicBezTo>
                  <a:pt x="68759" y="41976"/>
                  <a:pt x="70278" y="42475"/>
                  <a:pt x="71406" y="43604"/>
                </a:cubicBezTo>
                <a:lnTo>
                  <a:pt x="109736" y="81607"/>
                </a:lnTo>
                <a:lnTo>
                  <a:pt x="125016" y="69453"/>
                </a:lnTo>
                <a:lnTo>
                  <a:pt x="125016" y="6945"/>
                </a:lnTo>
                <a:lnTo>
                  <a:pt x="100707" y="20836"/>
                </a:lnTo>
                <a:lnTo>
                  <a:pt x="95541" y="17385"/>
                </a:lnTo>
                <a:cubicBezTo>
                  <a:pt x="92112" y="15106"/>
                  <a:pt x="88097" y="13891"/>
                  <a:pt x="83973" y="13891"/>
                </a:cubicBezTo>
                <a:lnTo>
                  <a:pt x="68693" y="13891"/>
                </a:lnTo>
                <a:cubicBezTo>
                  <a:pt x="68455" y="13891"/>
                  <a:pt x="68194" y="13891"/>
                  <a:pt x="67956" y="13912"/>
                </a:cubicBezTo>
                <a:cubicBezTo>
                  <a:pt x="64288" y="14108"/>
                  <a:pt x="60837" y="15757"/>
                  <a:pt x="58362" y="18492"/>
                </a:cubicBezTo>
                <a:close/>
                <a:moveTo>
                  <a:pt x="25307" y="39653"/>
                </a:moveTo>
                <a:lnTo>
                  <a:pt x="48487" y="13891"/>
                </a:lnTo>
                <a:lnTo>
                  <a:pt x="39892" y="13891"/>
                </a:lnTo>
                <a:cubicBezTo>
                  <a:pt x="34358" y="13891"/>
                  <a:pt x="29062" y="16083"/>
                  <a:pt x="25155" y="19989"/>
                </a:cubicBezTo>
                <a:lnTo>
                  <a:pt x="24309" y="20836"/>
                </a:lnTo>
                <a:lnTo>
                  <a:pt x="0" y="6945"/>
                </a:lnTo>
                <a:lnTo>
                  <a:pt x="0" y="69453"/>
                </a:lnTo>
                <a:lnTo>
                  <a:pt x="33945" y="97734"/>
                </a:lnTo>
                <a:cubicBezTo>
                  <a:pt x="38937" y="101901"/>
                  <a:pt x="45231" y="104180"/>
                  <a:pt x="51721" y="104180"/>
                </a:cubicBezTo>
                <a:lnTo>
                  <a:pt x="55128" y="104180"/>
                </a:lnTo>
                <a:lnTo>
                  <a:pt x="53609" y="102660"/>
                </a:lnTo>
                <a:cubicBezTo>
                  <a:pt x="51569" y="100620"/>
                  <a:pt x="51569" y="97321"/>
                  <a:pt x="53609" y="95303"/>
                </a:cubicBezTo>
                <a:cubicBezTo>
                  <a:pt x="55649" y="93284"/>
                  <a:pt x="58948" y="93263"/>
                  <a:pt x="60967" y="95303"/>
                </a:cubicBezTo>
                <a:lnTo>
                  <a:pt x="69866" y="104201"/>
                </a:lnTo>
                <a:lnTo>
                  <a:pt x="71819" y="104201"/>
                </a:lnTo>
                <a:cubicBezTo>
                  <a:pt x="75964" y="104201"/>
                  <a:pt x="80023" y="103268"/>
                  <a:pt x="83713" y="101532"/>
                </a:cubicBezTo>
                <a:lnTo>
                  <a:pt x="77918" y="95715"/>
                </a:lnTo>
                <a:cubicBezTo>
                  <a:pt x="75878" y="93675"/>
                  <a:pt x="75878" y="90376"/>
                  <a:pt x="77918" y="88357"/>
                </a:cubicBezTo>
                <a:cubicBezTo>
                  <a:pt x="79958" y="86339"/>
                  <a:pt x="83257" y="86317"/>
                  <a:pt x="85275" y="88357"/>
                </a:cubicBezTo>
                <a:lnTo>
                  <a:pt x="92221" y="95303"/>
                </a:lnTo>
                <a:lnTo>
                  <a:pt x="96019" y="91504"/>
                </a:lnTo>
                <a:cubicBezTo>
                  <a:pt x="97951" y="89573"/>
                  <a:pt x="98515" y="86773"/>
                  <a:pt x="97668" y="84320"/>
                </a:cubicBezTo>
                <a:lnTo>
                  <a:pt x="67739" y="54629"/>
                </a:lnTo>
                <a:lnTo>
                  <a:pt x="64505" y="57863"/>
                </a:lnTo>
                <a:cubicBezTo>
                  <a:pt x="53804" y="68563"/>
                  <a:pt x="36485" y="68563"/>
                  <a:pt x="25784" y="57863"/>
                </a:cubicBezTo>
                <a:cubicBezTo>
                  <a:pt x="20793" y="52871"/>
                  <a:pt x="20597" y="44862"/>
                  <a:pt x="25307" y="39632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575044" y="1274128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Relation Client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40107" y="1528118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D47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30618" y="1528118"/>
            <a:ext cx="1389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Libre-service (kiosque)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40107" y="1750337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D47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30618" y="1750337"/>
            <a:ext cx="165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Support rapide (WhatsApp)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440107" y="1972554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D47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630618" y="1972554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Garantie 2 ans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641369" y="1144979"/>
            <a:ext cx="2234811" cy="1734748"/>
          </a:xfrm>
          <a:prstGeom prst="roundRect">
            <a:avLst>
              <a:gd name="adj" fmla="val 5491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9775478" y="1313829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13891" y="27781"/>
                </a:moveTo>
                <a:cubicBezTo>
                  <a:pt x="13891" y="14365"/>
                  <a:pt x="24783" y="3473"/>
                  <a:pt x="38199" y="3473"/>
                </a:cubicBezTo>
                <a:cubicBezTo>
                  <a:pt x="51615" y="3473"/>
                  <a:pt x="62508" y="14365"/>
                  <a:pt x="62508" y="27781"/>
                </a:cubicBezTo>
                <a:cubicBezTo>
                  <a:pt x="62508" y="41198"/>
                  <a:pt x="51615" y="52090"/>
                  <a:pt x="38199" y="52090"/>
                </a:cubicBezTo>
                <a:cubicBezTo>
                  <a:pt x="24783" y="52090"/>
                  <a:pt x="13891" y="41198"/>
                  <a:pt x="13891" y="27781"/>
                </a:cubicBezTo>
                <a:close/>
                <a:moveTo>
                  <a:pt x="0" y="100707"/>
                </a:moveTo>
                <a:cubicBezTo>
                  <a:pt x="0" y="79611"/>
                  <a:pt x="17103" y="62508"/>
                  <a:pt x="38199" y="62508"/>
                </a:cubicBezTo>
                <a:cubicBezTo>
                  <a:pt x="59296" y="62508"/>
                  <a:pt x="76398" y="79611"/>
                  <a:pt x="76398" y="100707"/>
                </a:cubicBezTo>
                <a:lnTo>
                  <a:pt x="76398" y="102009"/>
                </a:lnTo>
                <a:cubicBezTo>
                  <a:pt x="76398" y="107045"/>
                  <a:pt x="72318" y="111125"/>
                  <a:pt x="67283" y="111125"/>
                </a:cubicBezTo>
                <a:lnTo>
                  <a:pt x="9116" y="111125"/>
                </a:lnTo>
                <a:cubicBezTo>
                  <a:pt x="4080" y="111125"/>
                  <a:pt x="0" y="107045"/>
                  <a:pt x="0" y="102009"/>
                </a:cubicBezTo>
                <a:lnTo>
                  <a:pt x="0" y="100707"/>
                </a:lnTo>
                <a:close/>
                <a:moveTo>
                  <a:pt x="93762" y="13891"/>
                </a:moveTo>
                <a:cubicBezTo>
                  <a:pt x="105261" y="13891"/>
                  <a:pt x="114598" y="23227"/>
                  <a:pt x="114598" y="34727"/>
                </a:cubicBezTo>
                <a:cubicBezTo>
                  <a:pt x="114598" y="46226"/>
                  <a:pt x="105261" y="55563"/>
                  <a:pt x="93762" y="55563"/>
                </a:cubicBezTo>
                <a:cubicBezTo>
                  <a:pt x="82262" y="55563"/>
                  <a:pt x="72926" y="46226"/>
                  <a:pt x="72926" y="34727"/>
                </a:cubicBezTo>
                <a:cubicBezTo>
                  <a:pt x="72926" y="23227"/>
                  <a:pt x="82262" y="13891"/>
                  <a:pt x="93762" y="13891"/>
                </a:cubicBezTo>
                <a:close/>
                <a:moveTo>
                  <a:pt x="93762" y="65980"/>
                </a:moveTo>
                <a:cubicBezTo>
                  <a:pt x="111016" y="65980"/>
                  <a:pt x="125016" y="79980"/>
                  <a:pt x="125016" y="97234"/>
                </a:cubicBezTo>
                <a:lnTo>
                  <a:pt x="125016" y="102096"/>
                </a:lnTo>
                <a:cubicBezTo>
                  <a:pt x="125016" y="107088"/>
                  <a:pt x="120979" y="111125"/>
                  <a:pt x="115987" y="111125"/>
                </a:cubicBezTo>
                <a:lnTo>
                  <a:pt x="84559" y="111125"/>
                </a:lnTo>
                <a:cubicBezTo>
                  <a:pt x="85992" y="108412"/>
                  <a:pt x="86816" y="105308"/>
                  <a:pt x="86816" y="102009"/>
                </a:cubicBezTo>
                <a:lnTo>
                  <a:pt x="86816" y="100707"/>
                </a:lnTo>
                <a:cubicBezTo>
                  <a:pt x="86816" y="89529"/>
                  <a:pt x="83040" y="79242"/>
                  <a:pt x="76724" y="71038"/>
                </a:cubicBezTo>
                <a:cubicBezTo>
                  <a:pt x="81629" y="67847"/>
                  <a:pt x="87489" y="65980"/>
                  <a:pt x="93762" y="65980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9905454" y="1274128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Segments Clients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770517" y="1528118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961029" y="1528118"/>
            <a:ext cx="1389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Étudiants ISTA Témara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770517" y="1750337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961029" y="1750337"/>
            <a:ext cx="73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Formateurs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19659" y="2975947"/>
            <a:ext cx="2234811" cy="1734748"/>
          </a:xfrm>
          <a:prstGeom prst="roundRect">
            <a:avLst>
              <a:gd name="adj" fmla="val 5491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0D47A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446823" y="3144796"/>
            <a:ext cx="138906" cy="111125"/>
          </a:xfrm>
          <a:custGeom>
            <a:avLst/>
            <a:gdLst/>
            <a:ahLst/>
            <a:cxnLst/>
            <a:rect l="l" t="t" r="r" b="b"/>
            <a:pathLst>
              <a:path w="138906" h="111125">
                <a:moveTo>
                  <a:pt x="90267" y="45687"/>
                </a:moveTo>
                <a:cubicBezTo>
                  <a:pt x="92915" y="44971"/>
                  <a:pt x="95693" y="46230"/>
                  <a:pt x="96887" y="48682"/>
                </a:cubicBezTo>
                <a:lnTo>
                  <a:pt x="100924" y="56843"/>
                </a:lnTo>
                <a:cubicBezTo>
                  <a:pt x="103160" y="57147"/>
                  <a:pt x="105352" y="57755"/>
                  <a:pt x="107414" y="58601"/>
                </a:cubicBezTo>
                <a:lnTo>
                  <a:pt x="115010" y="53544"/>
                </a:lnTo>
                <a:cubicBezTo>
                  <a:pt x="117289" y="52025"/>
                  <a:pt x="120306" y="52329"/>
                  <a:pt x="122237" y="54260"/>
                </a:cubicBezTo>
                <a:lnTo>
                  <a:pt x="126405" y="58427"/>
                </a:lnTo>
                <a:cubicBezTo>
                  <a:pt x="128336" y="60359"/>
                  <a:pt x="128640" y="63398"/>
                  <a:pt x="127121" y="65655"/>
                </a:cubicBezTo>
                <a:lnTo>
                  <a:pt x="122064" y="73230"/>
                </a:lnTo>
                <a:cubicBezTo>
                  <a:pt x="122476" y="74250"/>
                  <a:pt x="122845" y="75313"/>
                  <a:pt x="123149" y="76420"/>
                </a:cubicBezTo>
                <a:cubicBezTo>
                  <a:pt x="123453" y="77527"/>
                  <a:pt x="123648" y="78612"/>
                  <a:pt x="123800" y="79719"/>
                </a:cubicBezTo>
                <a:lnTo>
                  <a:pt x="131983" y="83756"/>
                </a:lnTo>
                <a:cubicBezTo>
                  <a:pt x="134435" y="84972"/>
                  <a:pt x="135694" y="87750"/>
                  <a:pt x="134978" y="90376"/>
                </a:cubicBezTo>
                <a:lnTo>
                  <a:pt x="133459" y="96062"/>
                </a:lnTo>
                <a:cubicBezTo>
                  <a:pt x="132742" y="98689"/>
                  <a:pt x="130290" y="100468"/>
                  <a:pt x="127555" y="100295"/>
                </a:cubicBezTo>
                <a:lnTo>
                  <a:pt x="118439" y="99709"/>
                </a:lnTo>
                <a:cubicBezTo>
                  <a:pt x="117072" y="101467"/>
                  <a:pt x="115488" y="103094"/>
                  <a:pt x="113686" y="104484"/>
                </a:cubicBezTo>
                <a:lnTo>
                  <a:pt x="114272" y="113578"/>
                </a:lnTo>
                <a:cubicBezTo>
                  <a:pt x="114446" y="116312"/>
                  <a:pt x="112666" y="118787"/>
                  <a:pt x="110040" y="119481"/>
                </a:cubicBezTo>
                <a:lnTo>
                  <a:pt x="104353" y="121000"/>
                </a:lnTo>
                <a:cubicBezTo>
                  <a:pt x="101705" y="121717"/>
                  <a:pt x="98949" y="120458"/>
                  <a:pt x="97734" y="118005"/>
                </a:cubicBezTo>
                <a:lnTo>
                  <a:pt x="93697" y="109844"/>
                </a:lnTo>
                <a:cubicBezTo>
                  <a:pt x="91461" y="109541"/>
                  <a:pt x="89269" y="108933"/>
                  <a:pt x="87207" y="108086"/>
                </a:cubicBezTo>
                <a:lnTo>
                  <a:pt x="79611" y="113143"/>
                </a:lnTo>
                <a:cubicBezTo>
                  <a:pt x="77332" y="114663"/>
                  <a:pt x="74315" y="114359"/>
                  <a:pt x="72383" y="112427"/>
                </a:cubicBezTo>
                <a:lnTo>
                  <a:pt x="68216" y="108260"/>
                </a:lnTo>
                <a:cubicBezTo>
                  <a:pt x="66284" y="106328"/>
                  <a:pt x="65980" y="103312"/>
                  <a:pt x="67500" y="101033"/>
                </a:cubicBezTo>
                <a:lnTo>
                  <a:pt x="72557" y="93436"/>
                </a:lnTo>
                <a:cubicBezTo>
                  <a:pt x="72144" y="92416"/>
                  <a:pt x="71775" y="91353"/>
                  <a:pt x="71472" y="90246"/>
                </a:cubicBezTo>
                <a:cubicBezTo>
                  <a:pt x="71168" y="89139"/>
                  <a:pt x="70972" y="88032"/>
                  <a:pt x="70820" y="86947"/>
                </a:cubicBezTo>
                <a:lnTo>
                  <a:pt x="62638" y="82910"/>
                </a:lnTo>
                <a:cubicBezTo>
                  <a:pt x="60185" y="81694"/>
                  <a:pt x="58948" y="78916"/>
                  <a:pt x="59643" y="76290"/>
                </a:cubicBezTo>
                <a:lnTo>
                  <a:pt x="61162" y="70603"/>
                </a:lnTo>
                <a:cubicBezTo>
                  <a:pt x="61878" y="67977"/>
                  <a:pt x="64331" y="66198"/>
                  <a:pt x="67066" y="66371"/>
                </a:cubicBezTo>
                <a:lnTo>
                  <a:pt x="76160" y="66957"/>
                </a:lnTo>
                <a:cubicBezTo>
                  <a:pt x="77527" y="65199"/>
                  <a:pt x="79111" y="63571"/>
                  <a:pt x="80913" y="62182"/>
                </a:cubicBezTo>
                <a:lnTo>
                  <a:pt x="80327" y="53110"/>
                </a:lnTo>
                <a:cubicBezTo>
                  <a:pt x="80153" y="50375"/>
                  <a:pt x="81933" y="47901"/>
                  <a:pt x="84559" y="47206"/>
                </a:cubicBezTo>
                <a:lnTo>
                  <a:pt x="90246" y="45687"/>
                </a:lnTo>
                <a:close/>
                <a:moveTo>
                  <a:pt x="97321" y="73794"/>
                </a:moveTo>
                <a:cubicBezTo>
                  <a:pt x="92051" y="73800"/>
                  <a:pt x="87776" y="78084"/>
                  <a:pt x="87782" y="83355"/>
                </a:cubicBezTo>
                <a:cubicBezTo>
                  <a:pt x="87788" y="88625"/>
                  <a:pt x="92072" y="92900"/>
                  <a:pt x="97343" y="92894"/>
                </a:cubicBezTo>
                <a:cubicBezTo>
                  <a:pt x="102614" y="92888"/>
                  <a:pt x="106888" y="88604"/>
                  <a:pt x="106882" y="83333"/>
                </a:cubicBezTo>
                <a:cubicBezTo>
                  <a:pt x="106876" y="78062"/>
                  <a:pt x="102592" y="73788"/>
                  <a:pt x="97321" y="73794"/>
                </a:cubicBezTo>
                <a:close/>
                <a:moveTo>
                  <a:pt x="48813" y="-9875"/>
                </a:moveTo>
                <a:lnTo>
                  <a:pt x="54499" y="-8356"/>
                </a:lnTo>
                <a:cubicBezTo>
                  <a:pt x="57125" y="-7640"/>
                  <a:pt x="58905" y="-5166"/>
                  <a:pt x="58731" y="-2453"/>
                </a:cubicBezTo>
                <a:lnTo>
                  <a:pt x="58145" y="6620"/>
                </a:lnTo>
                <a:cubicBezTo>
                  <a:pt x="59947" y="8009"/>
                  <a:pt x="61531" y="9615"/>
                  <a:pt x="62898" y="11395"/>
                </a:cubicBezTo>
                <a:lnTo>
                  <a:pt x="72014" y="10809"/>
                </a:lnTo>
                <a:cubicBezTo>
                  <a:pt x="74727" y="10635"/>
                  <a:pt x="77201" y="12415"/>
                  <a:pt x="77918" y="15041"/>
                </a:cubicBezTo>
                <a:lnTo>
                  <a:pt x="79437" y="20727"/>
                </a:lnTo>
                <a:cubicBezTo>
                  <a:pt x="80132" y="23354"/>
                  <a:pt x="78894" y="26132"/>
                  <a:pt x="76442" y="27347"/>
                </a:cubicBezTo>
                <a:lnTo>
                  <a:pt x="68259" y="31384"/>
                </a:lnTo>
                <a:cubicBezTo>
                  <a:pt x="68107" y="32491"/>
                  <a:pt x="67890" y="33598"/>
                  <a:pt x="67608" y="34683"/>
                </a:cubicBezTo>
                <a:cubicBezTo>
                  <a:pt x="67326" y="35768"/>
                  <a:pt x="66935" y="36854"/>
                  <a:pt x="66523" y="37874"/>
                </a:cubicBezTo>
                <a:lnTo>
                  <a:pt x="71580" y="45470"/>
                </a:lnTo>
                <a:cubicBezTo>
                  <a:pt x="73099" y="47749"/>
                  <a:pt x="72796" y="50766"/>
                  <a:pt x="70864" y="52698"/>
                </a:cubicBezTo>
                <a:lnTo>
                  <a:pt x="66697" y="56865"/>
                </a:lnTo>
                <a:cubicBezTo>
                  <a:pt x="64765" y="58796"/>
                  <a:pt x="61748" y="59100"/>
                  <a:pt x="59469" y="57581"/>
                </a:cubicBezTo>
                <a:lnTo>
                  <a:pt x="51873" y="52524"/>
                </a:lnTo>
                <a:cubicBezTo>
                  <a:pt x="49811" y="53370"/>
                  <a:pt x="47619" y="53978"/>
                  <a:pt x="45383" y="54282"/>
                </a:cubicBezTo>
                <a:lnTo>
                  <a:pt x="41346" y="62443"/>
                </a:lnTo>
                <a:cubicBezTo>
                  <a:pt x="40131" y="64895"/>
                  <a:pt x="37353" y="66132"/>
                  <a:pt x="34727" y="65438"/>
                </a:cubicBezTo>
                <a:lnTo>
                  <a:pt x="29040" y="63919"/>
                </a:lnTo>
                <a:cubicBezTo>
                  <a:pt x="26392" y="63202"/>
                  <a:pt x="24634" y="60728"/>
                  <a:pt x="24808" y="58015"/>
                </a:cubicBezTo>
                <a:lnTo>
                  <a:pt x="25394" y="48921"/>
                </a:lnTo>
                <a:cubicBezTo>
                  <a:pt x="23592" y="47532"/>
                  <a:pt x="22008" y="45926"/>
                  <a:pt x="20641" y="44146"/>
                </a:cubicBezTo>
                <a:lnTo>
                  <a:pt x="11525" y="44732"/>
                </a:lnTo>
                <a:cubicBezTo>
                  <a:pt x="8812" y="44906"/>
                  <a:pt x="6338" y="43126"/>
                  <a:pt x="5621" y="40500"/>
                </a:cubicBezTo>
                <a:lnTo>
                  <a:pt x="4102" y="34813"/>
                </a:lnTo>
                <a:cubicBezTo>
                  <a:pt x="3408" y="32187"/>
                  <a:pt x="4645" y="29409"/>
                  <a:pt x="7097" y="28194"/>
                </a:cubicBezTo>
                <a:lnTo>
                  <a:pt x="15280" y="24157"/>
                </a:lnTo>
                <a:cubicBezTo>
                  <a:pt x="15432" y="23050"/>
                  <a:pt x="15649" y="21965"/>
                  <a:pt x="15931" y="20858"/>
                </a:cubicBezTo>
                <a:cubicBezTo>
                  <a:pt x="16235" y="19751"/>
                  <a:pt x="16582" y="18687"/>
                  <a:pt x="17016" y="17667"/>
                </a:cubicBezTo>
                <a:lnTo>
                  <a:pt x="11959" y="10092"/>
                </a:lnTo>
                <a:cubicBezTo>
                  <a:pt x="10440" y="7813"/>
                  <a:pt x="10744" y="4797"/>
                  <a:pt x="12675" y="2865"/>
                </a:cubicBezTo>
                <a:lnTo>
                  <a:pt x="16842" y="-1302"/>
                </a:lnTo>
                <a:cubicBezTo>
                  <a:pt x="18774" y="-3234"/>
                  <a:pt x="21791" y="-3538"/>
                  <a:pt x="24070" y="-2018"/>
                </a:cubicBezTo>
                <a:lnTo>
                  <a:pt x="31666" y="3039"/>
                </a:lnTo>
                <a:cubicBezTo>
                  <a:pt x="33728" y="2192"/>
                  <a:pt x="35920" y="1584"/>
                  <a:pt x="38156" y="1281"/>
                </a:cubicBezTo>
                <a:lnTo>
                  <a:pt x="42193" y="-6880"/>
                </a:lnTo>
                <a:cubicBezTo>
                  <a:pt x="43408" y="-9333"/>
                  <a:pt x="46165" y="-10570"/>
                  <a:pt x="48813" y="-9875"/>
                </a:cubicBezTo>
                <a:close/>
                <a:moveTo>
                  <a:pt x="41759" y="18231"/>
                </a:moveTo>
                <a:cubicBezTo>
                  <a:pt x="36488" y="18231"/>
                  <a:pt x="32209" y="22511"/>
                  <a:pt x="32209" y="27781"/>
                </a:cubicBezTo>
                <a:cubicBezTo>
                  <a:pt x="32209" y="33052"/>
                  <a:pt x="36488" y="37331"/>
                  <a:pt x="41759" y="37331"/>
                </a:cubicBezTo>
                <a:cubicBezTo>
                  <a:pt x="47029" y="37331"/>
                  <a:pt x="51308" y="33052"/>
                  <a:pt x="51308" y="27781"/>
                </a:cubicBezTo>
                <a:cubicBezTo>
                  <a:pt x="51308" y="22511"/>
                  <a:pt x="47029" y="18231"/>
                  <a:pt x="41759" y="18231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583745" y="3105097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Ressources Clés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48808" y="3359086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D47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9319" y="3359086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Équipe technique ISTA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48808" y="3581305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D47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9319" y="358130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Composants électroniques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48808" y="380352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D47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9319" y="3803520"/>
            <a:ext cx="132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Kiosques de recharge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48808" y="4025739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D47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9319" y="4025739"/>
            <a:ext cx="177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 du produit Solaris Lux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2650070" y="2975947"/>
            <a:ext cx="2234811" cy="1734748"/>
          </a:xfrm>
          <a:prstGeom prst="roundRect">
            <a:avLst>
              <a:gd name="adj" fmla="val 5491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2784179" y="3144796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0" y="20836"/>
                </a:moveTo>
                <a:cubicBezTo>
                  <a:pt x="0" y="13174"/>
                  <a:pt x="6229" y="6945"/>
                  <a:pt x="13891" y="6945"/>
                </a:cubicBezTo>
                <a:lnTo>
                  <a:pt x="76398" y="6945"/>
                </a:lnTo>
                <a:cubicBezTo>
                  <a:pt x="84060" y="6945"/>
                  <a:pt x="90289" y="13174"/>
                  <a:pt x="90289" y="20836"/>
                </a:cubicBezTo>
                <a:lnTo>
                  <a:pt x="90289" y="27781"/>
                </a:lnTo>
                <a:lnTo>
                  <a:pt x="101293" y="27781"/>
                </a:lnTo>
                <a:cubicBezTo>
                  <a:pt x="104983" y="27781"/>
                  <a:pt x="108521" y="29235"/>
                  <a:pt x="111125" y="31840"/>
                </a:cubicBezTo>
                <a:lnTo>
                  <a:pt x="120957" y="41672"/>
                </a:lnTo>
                <a:cubicBezTo>
                  <a:pt x="123561" y="44276"/>
                  <a:pt x="125016" y="47814"/>
                  <a:pt x="125016" y="51504"/>
                </a:cubicBezTo>
                <a:lnTo>
                  <a:pt x="125016" y="83344"/>
                </a:lnTo>
                <a:cubicBezTo>
                  <a:pt x="125016" y="91005"/>
                  <a:pt x="118787" y="97234"/>
                  <a:pt x="111125" y="97234"/>
                </a:cubicBezTo>
                <a:lnTo>
                  <a:pt x="110409" y="97234"/>
                </a:lnTo>
                <a:cubicBezTo>
                  <a:pt x="108152" y="105243"/>
                  <a:pt x="100772" y="111125"/>
                  <a:pt x="92025" y="111125"/>
                </a:cubicBezTo>
                <a:cubicBezTo>
                  <a:pt x="83279" y="111125"/>
                  <a:pt x="75921" y="105243"/>
                  <a:pt x="73642" y="97234"/>
                </a:cubicBezTo>
                <a:lnTo>
                  <a:pt x="51374" y="97234"/>
                </a:lnTo>
                <a:cubicBezTo>
                  <a:pt x="49116" y="105243"/>
                  <a:pt x="41737" y="111125"/>
                  <a:pt x="32990" y="111125"/>
                </a:cubicBezTo>
                <a:cubicBezTo>
                  <a:pt x="24243" y="111125"/>
                  <a:pt x="16886" y="105243"/>
                  <a:pt x="14607" y="97234"/>
                </a:cubicBezTo>
                <a:lnTo>
                  <a:pt x="13891" y="97234"/>
                </a:lnTo>
                <a:cubicBezTo>
                  <a:pt x="6229" y="97234"/>
                  <a:pt x="0" y="91005"/>
                  <a:pt x="0" y="83344"/>
                </a:cubicBezTo>
                <a:lnTo>
                  <a:pt x="0" y="20836"/>
                </a:lnTo>
                <a:close/>
                <a:moveTo>
                  <a:pt x="111125" y="62508"/>
                </a:moveTo>
                <a:lnTo>
                  <a:pt x="111125" y="51504"/>
                </a:lnTo>
                <a:lnTo>
                  <a:pt x="101293" y="41672"/>
                </a:lnTo>
                <a:lnTo>
                  <a:pt x="90289" y="41672"/>
                </a:lnTo>
                <a:lnTo>
                  <a:pt x="90289" y="62508"/>
                </a:lnTo>
                <a:lnTo>
                  <a:pt x="111125" y="62508"/>
                </a:lnTo>
                <a:close/>
                <a:moveTo>
                  <a:pt x="41672" y="92025"/>
                </a:moveTo>
                <a:cubicBezTo>
                  <a:pt x="41672" y="87234"/>
                  <a:pt x="37782" y="83344"/>
                  <a:pt x="32990" y="83344"/>
                </a:cubicBezTo>
                <a:cubicBezTo>
                  <a:pt x="28199" y="83344"/>
                  <a:pt x="24309" y="87234"/>
                  <a:pt x="24309" y="92025"/>
                </a:cubicBezTo>
                <a:cubicBezTo>
                  <a:pt x="24309" y="96817"/>
                  <a:pt x="28199" y="100707"/>
                  <a:pt x="32990" y="100707"/>
                </a:cubicBezTo>
                <a:cubicBezTo>
                  <a:pt x="37782" y="100707"/>
                  <a:pt x="41672" y="96817"/>
                  <a:pt x="41672" y="92025"/>
                </a:cubicBezTo>
                <a:close/>
                <a:moveTo>
                  <a:pt x="92025" y="100707"/>
                </a:moveTo>
                <a:cubicBezTo>
                  <a:pt x="96817" y="100707"/>
                  <a:pt x="100707" y="96817"/>
                  <a:pt x="100707" y="92025"/>
                </a:cubicBezTo>
                <a:cubicBezTo>
                  <a:pt x="100707" y="87234"/>
                  <a:pt x="96817" y="83344"/>
                  <a:pt x="92025" y="83344"/>
                </a:cubicBezTo>
                <a:cubicBezTo>
                  <a:pt x="87234" y="83344"/>
                  <a:pt x="83344" y="87234"/>
                  <a:pt x="83344" y="92025"/>
                </a:cubicBezTo>
                <a:cubicBezTo>
                  <a:pt x="83344" y="96817"/>
                  <a:pt x="87234" y="100707"/>
                  <a:pt x="92025" y="100707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2914155" y="3105097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Canaux de Distribution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2779218" y="3359086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2969729" y="3359086"/>
            <a:ext cx="111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Kiosques sur ISTA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2779218" y="3581305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2969729" y="3581305"/>
            <a:ext cx="84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Vente directe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2779218" y="380352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2969729" y="3803520"/>
            <a:ext cx="149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Ambassadeurs étudiants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980480" y="2975947"/>
            <a:ext cx="2234811" cy="1734748"/>
          </a:xfrm>
          <a:prstGeom prst="roundRect">
            <a:avLst>
              <a:gd name="adj" fmla="val 5491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FF646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5121535" y="314479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0" y="91070"/>
                </a:moveTo>
                <a:lnTo>
                  <a:pt x="0" y="23766"/>
                </a:lnTo>
                <a:cubicBezTo>
                  <a:pt x="0" y="18731"/>
                  <a:pt x="5231" y="15388"/>
                  <a:pt x="10049" y="16821"/>
                </a:cubicBezTo>
                <a:cubicBezTo>
                  <a:pt x="29083" y="22507"/>
                  <a:pt x="42540" y="18014"/>
                  <a:pt x="56083" y="13500"/>
                </a:cubicBezTo>
                <a:cubicBezTo>
                  <a:pt x="70083" y="8834"/>
                  <a:pt x="84169" y="4145"/>
                  <a:pt x="104549" y="10657"/>
                </a:cubicBezTo>
                <a:cubicBezTo>
                  <a:pt x="108564" y="11937"/>
                  <a:pt x="111125" y="15822"/>
                  <a:pt x="111125" y="20055"/>
                </a:cubicBezTo>
                <a:lnTo>
                  <a:pt x="111125" y="87359"/>
                </a:lnTo>
                <a:cubicBezTo>
                  <a:pt x="111125" y="92394"/>
                  <a:pt x="105894" y="95737"/>
                  <a:pt x="101098" y="94304"/>
                </a:cubicBezTo>
                <a:cubicBezTo>
                  <a:pt x="82063" y="88618"/>
                  <a:pt x="68585" y="93111"/>
                  <a:pt x="55063" y="97625"/>
                </a:cubicBezTo>
                <a:cubicBezTo>
                  <a:pt x="41064" y="102291"/>
                  <a:pt x="26978" y="106980"/>
                  <a:pt x="6598" y="100468"/>
                </a:cubicBezTo>
                <a:cubicBezTo>
                  <a:pt x="2583" y="99188"/>
                  <a:pt x="22" y="95303"/>
                  <a:pt x="22" y="91070"/>
                </a:cubicBezTo>
                <a:close/>
                <a:moveTo>
                  <a:pt x="72926" y="55563"/>
                </a:moveTo>
                <a:cubicBezTo>
                  <a:pt x="72926" y="44059"/>
                  <a:pt x="65156" y="34727"/>
                  <a:pt x="55563" y="34727"/>
                </a:cubicBezTo>
                <a:cubicBezTo>
                  <a:pt x="45969" y="34727"/>
                  <a:pt x="38199" y="44059"/>
                  <a:pt x="38199" y="55563"/>
                </a:cubicBezTo>
                <a:cubicBezTo>
                  <a:pt x="38199" y="67066"/>
                  <a:pt x="45969" y="76398"/>
                  <a:pt x="55563" y="76398"/>
                </a:cubicBezTo>
                <a:cubicBezTo>
                  <a:pt x="65156" y="76398"/>
                  <a:pt x="72926" y="67066"/>
                  <a:pt x="72926" y="55563"/>
                </a:cubicBezTo>
                <a:close/>
                <a:moveTo>
                  <a:pt x="26045" y="89768"/>
                </a:moveTo>
                <a:cubicBezTo>
                  <a:pt x="27000" y="89768"/>
                  <a:pt x="27760" y="88943"/>
                  <a:pt x="27608" y="88010"/>
                </a:cubicBezTo>
                <a:cubicBezTo>
                  <a:pt x="26609" y="81976"/>
                  <a:pt x="21748" y="77267"/>
                  <a:pt x="15627" y="76507"/>
                </a:cubicBezTo>
                <a:cubicBezTo>
                  <a:pt x="14672" y="76398"/>
                  <a:pt x="13891" y="77180"/>
                  <a:pt x="13891" y="78135"/>
                </a:cubicBezTo>
                <a:lnTo>
                  <a:pt x="13891" y="86795"/>
                </a:lnTo>
                <a:cubicBezTo>
                  <a:pt x="13891" y="87576"/>
                  <a:pt x="14412" y="88271"/>
                  <a:pt x="15193" y="88466"/>
                </a:cubicBezTo>
                <a:cubicBezTo>
                  <a:pt x="19078" y="89377"/>
                  <a:pt x="22637" y="89790"/>
                  <a:pt x="26045" y="89790"/>
                </a:cubicBezTo>
                <a:close/>
                <a:moveTo>
                  <a:pt x="95172" y="78677"/>
                </a:moveTo>
                <a:cubicBezTo>
                  <a:pt x="96258" y="78851"/>
                  <a:pt x="97234" y="78026"/>
                  <a:pt x="97234" y="76941"/>
                </a:cubicBezTo>
                <a:lnTo>
                  <a:pt x="97234" y="67695"/>
                </a:lnTo>
                <a:cubicBezTo>
                  <a:pt x="97234" y="66740"/>
                  <a:pt x="96453" y="65937"/>
                  <a:pt x="95498" y="66067"/>
                </a:cubicBezTo>
                <a:cubicBezTo>
                  <a:pt x="90029" y="66740"/>
                  <a:pt x="85536" y="70603"/>
                  <a:pt x="83951" y="75747"/>
                </a:cubicBezTo>
                <a:cubicBezTo>
                  <a:pt x="83648" y="76767"/>
                  <a:pt x="84451" y="77722"/>
                  <a:pt x="85514" y="77744"/>
                </a:cubicBezTo>
                <a:cubicBezTo>
                  <a:pt x="88596" y="77831"/>
                  <a:pt x="91808" y="78113"/>
                  <a:pt x="95151" y="78677"/>
                </a:cubicBezTo>
                <a:close/>
                <a:moveTo>
                  <a:pt x="97234" y="32990"/>
                </a:moveTo>
                <a:lnTo>
                  <a:pt x="97234" y="24330"/>
                </a:lnTo>
                <a:cubicBezTo>
                  <a:pt x="97234" y="23549"/>
                  <a:pt x="96692" y="22854"/>
                  <a:pt x="95932" y="22659"/>
                </a:cubicBezTo>
                <a:cubicBezTo>
                  <a:pt x="92047" y="21748"/>
                  <a:pt x="88488" y="21335"/>
                  <a:pt x="85080" y="21335"/>
                </a:cubicBezTo>
                <a:cubicBezTo>
                  <a:pt x="84125" y="21335"/>
                  <a:pt x="83365" y="22160"/>
                  <a:pt x="83517" y="23093"/>
                </a:cubicBezTo>
                <a:cubicBezTo>
                  <a:pt x="84516" y="29127"/>
                  <a:pt x="89377" y="33837"/>
                  <a:pt x="95498" y="34596"/>
                </a:cubicBezTo>
                <a:cubicBezTo>
                  <a:pt x="96453" y="34705"/>
                  <a:pt x="97234" y="33924"/>
                  <a:pt x="97234" y="32969"/>
                </a:cubicBezTo>
                <a:close/>
                <a:moveTo>
                  <a:pt x="27174" y="35356"/>
                </a:moveTo>
                <a:cubicBezTo>
                  <a:pt x="27477" y="34336"/>
                  <a:pt x="26674" y="33381"/>
                  <a:pt x="25611" y="33359"/>
                </a:cubicBezTo>
                <a:cubicBezTo>
                  <a:pt x="22529" y="33272"/>
                  <a:pt x="19317" y="32990"/>
                  <a:pt x="15974" y="32426"/>
                </a:cubicBezTo>
                <a:cubicBezTo>
                  <a:pt x="14889" y="32252"/>
                  <a:pt x="13912" y="33077"/>
                  <a:pt x="13912" y="34162"/>
                </a:cubicBezTo>
                <a:lnTo>
                  <a:pt x="13891" y="43408"/>
                </a:lnTo>
                <a:cubicBezTo>
                  <a:pt x="13891" y="44363"/>
                  <a:pt x="14672" y="45166"/>
                  <a:pt x="15627" y="45036"/>
                </a:cubicBezTo>
                <a:cubicBezTo>
                  <a:pt x="21096" y="44363"/>
                  <a:pt x="25589" y="40500"/>
                  <a:pt x="27174" y="35356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5244566" y="3105097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Structure des Coûts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109629" y="3359086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5300139" y="3359086"/>
            <a:ext cx="79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Composants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5109629" y="3581305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5300139" y="3581305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Logistique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5109629" y="380352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5300139" y="3803520"/>
            <a:ext cx="81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Maintenance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7310959" y="2975947"/>
            <a:ext cx="2234811" cy="1734748"/>
          </a:xfrm>
          <a:prstGeom prst="roundRect">
            <a:avLst>
              <a:gd name="adj" fmla="val 5491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05DF7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7452013" y="314479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3891" y="13891"/>
                </a:moveTo>
                <a:cubicBezTo>
                  <a:pt x="13891" y="10049"/>
                  <a:pt x="10787" y="6945"/>
                  <a:pt x="6945" y="6945"/>
                </a:cubicBezTo>
                <a:cubicBezTo>
                  <a:pt x="3104" y="6945"/>
                  <a:pt x="0" y="10049"/>
                  <a:pt x="0" y="13891"/>
                </a:cubicBezTo>
                <a:lnTo>
                  <a:pt x="0" y="86816"/>
                </a:lnTo>
                <a:cubicBezTo>
                  <a:pt x="0" y="96410"/>
                  <a:pt x="7770" y="104180"/>
                  <a:pt x="17363" y="104180"/>
                </a:cubicBezTo>
                <a:lnTo>
                  <a:pt x="104180" y="104180"/>
                </a:lnTo>
                <a:cubicBezTo>
                  <a:pt x="108021" y="104180"/>
                  <a:pt x="111125" y="101076"/>
                  <a:pt x="111125" y="97234"/>
                </a:cubicBezTo>
                <a:cubicBezTo>
                  <a:pt x="111125" y="93393"/>
                  <a:pt x="108021" y="90289"/>
                  <a:pt x="104180" y="90289"/>
                </a:cubicBezTo>
                <a:lnTo>
                  <a:pt x="17363" y="90289"/>
                </a:lnTo>
                <a:cubicBezTo>
                  <a:pt x="15453" y="90289"/>
                  <a:pt x="13891" y="88726"/>
                  <a:pt x="13891" y="86816"/>
                </a:cubicBezTo>
                <a:lnTo>
                  <a:pt x="13891" y="13891"/>
                </a:lnTo>
                <a:close/>
                <a:moveTo>
                  <a:pt x="102140" y="32686"/>
                </a:moveTo>
                <a:cubicBezTo>
                  <a:pt x="104853" y="29973"/>
                  <a:pt x="104853" y="25567"/>
                  <a:pt x="102140" y="22854"/>
                </a:cubicBezTo>
                <a:cubicBezTo>
                  <a:pt x="99426" y="20141"/>
                  <a:pt x="95021" y="20141"/>
                  <a:pt x="92308" y="22854"/>
                </a:cubicBezTo>
                <a:lnTo>
                  <a:pt x="69453" y="45731"/>
                </a:lnTo>
                <a:lnTo>
                  <a:pt x="56995" y="33294"/>
                </a:lnTo>
                <a:cubicBezTo>
                  <a:pt x="54282" y="30581"/>
                  <a:pt x="49876" y="30581"/>
                  <a:pt x="47163" y="33294"/>
                </a:cubicBezTo>
                <a:lnTo>
                  <a:pt x="26327" y="54130"/>
                </a:lnTo>
                <a:cubicBezTo>
                  <a:pt x="23614" y="56843"/>
                  <a:pt x="23614" y="61249"/>
                  <a:pt x="26327" y="63962"/>
                </a:cubicBezTo>
                <a:cubicBezTo>
                  <a:pt x="29040" y="66675"/>
                  <a:pt x="33446" y="66675"/>
                  <a:pt x="36159" y="63962"/>
                </a:cubicBezTo>
                <a:lnTo>
                  <a:pt x="52090" y="48031"/>
                </a:lnTo>
                <a:lnTo>
                  <a:pt x="64548" y="60489"/>
                </a:lnTo>
                <a:cubicBezTo>
                  <a:pt x="67261" y="63202"/>
                  <a:pt x="71667" y="63202"/>
                  <a:pt x="74380" y="60489"/>
                </a:cubicBezTo>
                <a:lnTo>
                  <a:pt x="102161" y="32708"/>
                </a:ln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Text 79"/>
          <p:cNvSpPr/>
          <p:nvPr/>
        </p:nvSpPr>
        <p:spPr>
          <a:xfrm>
            <a:off x="7575044" y="3105097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Sources de Revenus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7440107" y="3359086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7630618" y="3359086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Recharge : 2 DH / heure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7440107" y="3581305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630618" y="3581305"/>
            <a:ext cx="163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Vente powerbank : 249 DH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7440107" y="380352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7630618" y="3803520"/>
            <a:ext cx="111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Vente accessoires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67" y="380967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 — Modèle Économique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67" y="685758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Chiffres &amp; Résultats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67" y="1180951"/>
            <a:ext cx="914400" cy="38100"/>
          </a:xfrm>
          <a:prstGeom prst="roundRect">
            <a:avLst>
              <a:gd name="adj" fmla="val 0"/>
            </a:avLst>
          </a:pr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83591" y="1297801"/>
            <a:ext cx="5634523" cy="4558198"/>
          </a:xfrm>
          <a:prstGeom prst="roundRect">
            <a:avLst>
              <a:gd name="adj" fmla="val 3343"/>
            </a:avLst>
          </a:prstGeom>
          <a:solidFill>
            <a:srgbClr val="1E293B">
              <a:alpha val="60000"/>
            </a:srgbClr>
          </a:soli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6441" y="1460648"/>
            <a:ext cx="520569" cy="520569"/>
          </a:xfrm>
          <a:prstGeom prst="roundRect">
            <a:avLst>
              <a:gd name="adj" fmla="val 21957"/>
            </a:avLst>
          </a:prstGeom>
          <a:solidFill>
            <a:srgbClr val="C9A24A">
              <a:alpha val="20000"/>
            </a:srgbClr>
          </a:solidFill>
          <a:ln w="20992">
            <a:solidFill>
              <a:srgbClr val="C9A2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62388" y="160513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35744" y="57150"/>
                </a:moveTo>
                <a:cubicBezTo>
                  <a:pt x="239673" y="57150"/>
                  <a:pt x="242888" y="60365"/>
                  <a:pt x="242888" y="64294"/>
                </a:cubicBezTo>
                <a:lnTo>
                  <a:pt x="242888" y="164306"/>
                </a:lnTo>
                <a:cubicBezTo>
                  <a:pt x="242888" y="168235"/>
                  <a:pt x="239673" y="171450"/>
                  <a:pt x="235744" y="171450"/>
                </a:cubicBezTo>
                <a:lnTo>
                  <a:pt x="50006" y="171450"/>
                </a:lnTo>
                <a:cubicBezTo>
                  <a:pt x="46077" y="171450"/>
                  <a:pt x="42863" y="168235"/>
                  <a:pt x="42863" y="164306"/>
                </a:cubicBezTo>
                <a:lnTo>
                  <a:pt x="42863" y="64294"/>
                </a:lnTo>
                <a:cubicBezTo>
                  <a:pt x="42863" y="60365"/>
                  <a:pt x="46077" y="57150"/>
                  <a:pt x="50006" y="57150"/>
                </a:cubicBezTo>
                <a:lnTo>
                  <a:pt x="235744" y="57150"/>
                </a:lnTo>
                <a:close/>
                <a:moveTo>
                  <a:pt x="50006" y="28575"/>
                </a:moveTo>
                <a:cubicBezTo>
                  <a:pt x="30272" y="28575"/>
                  <a:pt x="14288" y="44559"/>
                  <a:pt x="14288" y="64294"/>
                </a:cubicBezTo>
                <a:lnTo>
                  <a:pt x="14288" y="164306"/>
                </a:lnTo>
                <a:cubicBezTo>
                  <a:pt x="14288" y="184041"/>
                  <a:pt x="30272" y="200025"/>
                  <a:pt x="50006" y="200025"/>
                </a:cubicBezTo>
                <a:lnTo>
                  <a:pt x="235744" y="200025"/>
                </a:lnTo>
                <a:cubicBezTo>
                  <a:pt x="255478" y="200025"/>
                  <a:pt x="271463" y="184041"/>
                  <a:pt x="271463" y="164306"/>
                </a:cubicBezTo>
                <a:lnTo>
                  <a:pt x="271463" y="142875"/>
                </a:lnTo>
                <a:cubicBezTo>
                  <a:pt x="279365" y="142875"/>
                  <a:pt x="285750" y="136490"/>
                  <a:pt x="285750" y="128588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lnTo>
                  <a:pt x="271463" y="64294"/>
                </a:lnTo>
                <a:cubicBezTo>
                  <a:pt x="271463" y="44559"/>
                  <a:pt x="255478" y="28575"/>
                  <a:pt x="235744" y="28575"/>
                </a:cubicBezTo>
                <a:lnTo>
                  <a:pt x="50006" y="28575"/>
                </a:lnTo>
                <a:close/>
                <a:moveTo>
                  <a:pt x="75009" y="78581"/>
                </a:moveTo>
                <a:cubicBezTo>
                  <a:pt x="69071" y="78581"/>
                  <a:pt x="64294" y="83359"/>
                  <a:pt x="64294" y="89297"/>
                </a:cubicBezTo>
                <a:lnTo>
                  <a:pt x="64294" y="139303"/>
                </a:lnTo>
                <a:cubicBezTo>
                  <a:pt x="64294" y="145241"/>
                  <a:pt x="69071" y="150019"/>
                  <a:pt x="75009" y="150019"/>
                </a:cubicBezTo>
                <a:lnTo>
                  <a:pt x="210741" y="150019"/>
                </a:lnTo>
                <a:cubicBezTo>
                  <a:pt x="216679" y="150019"/>
                  <a:pt x="221456" y="145241"/>
                  <a:pt x="221456" y="139303"/>
                </a:cubicBezTo>
                <a:lnTo>
                  <a:pt x="221456" y="89297"/>
                </a:lnTo>
                <a:cubicBezTo>
                  <a:pt x="221456" y="83359"/>
                  <a:pt x="216679" y="78581"/>
                  <a:pt x="210741" y="78581"/>
                </a:cubicBezTo>
                <a:lnTo>
                  <a:pt x="75009" y="78581"/>
                </a:ln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224244" y="1452776"/>
            <a:ext cx="186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SmartCharge V1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4244" y="1757567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Powerbank 2 en 1 Solaire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8569" y="2062358"/>
            <a:ext cx="5324475" cy="2867025"/>
          </a:xfrm>
          <a:prstGeom prst="roundRect">
            <a:avLst>
              <a:gd name="adj" fmla="val 3987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2794" y="2472272"/>
          <a:ext cx="5095875" cy="7415627"/>
        </p:xfrm>
        <a:graphic>
          <a:graphicData uri="http://schemas.openxmlformats.org/drawingml/2006/table">
            <a:tbl>
              <a:tblPr/>
              <a:tblGrid>
                <a:gridCol w="280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C9A24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Élément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5486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C9A24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Montant (DH)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5486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782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Prix de vente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249 DH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82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Coût production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FF6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-190 DH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82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Coût logistique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FF6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-10 DH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782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Coût SAV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FF6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-5 DH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219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C9A24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Marge par vente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 b="1" u="none" dirty="0">
                          <a:solidFill>
                            <a:srgbClr val="C9A24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+44 DH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1193" y="5005877"/>
            <a:ext cx="2596048" cy="691048"/>
          </a:xfrm>
          <a:prstGeom prst="roundRect">
            <a:avLst>
              <a:gd name="adj" fmla="val 11027"/>
            </a:avLst>
          </a:prstGeom>
          <a:solidFill>
            <a:srgbClr val="C9A24A">
              <a:alpha val="10196"/>
            </a:srgbClr>
          </a:soli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62844" y="5084676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81894" y="538946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Marge unitaire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260114" y="5005877"/>
            <a:ext cx="2596048" cy="691048"/>
          </a:xfrm>
          <a:prstGeom prst="roundRect">
            <a:avLst>
              <a:gd name="adj" fmla="val 11027"/>
            </a:avLst>
          </a:prstGeom>
          <a:solidFill>
            <a:srgbClr val="0D47A1">
              <a:alpha val="20000"/>
            </a:srgbClr>
          </a:solidFill>
          <a:ln w="6997">
            <a:solidFill>
              <a:srgbClr val="0D47A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281765" y="5084676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249 DH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300815" y="538946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Prix étudiant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74768" y="1297801"/>
            <a:ext cx="5634523" cy="4558198"/>
          </a:xfrm>
          <a:prstGeom prst="roundRect">
            <a:avLst>
              <a:gd name="adj" fmla="val 3343"/>
            </a:avLst>
          </a:prstGeom>
          <a:solidFill>
            <a:srgbClr val="1E293B">
              <a:alpha val="60000"/>
            </a:srgbClr>
          </a:solidFill>
          <a:ln w="6997">
            <a:solidFill>
              <a:srgbClr val="0D47A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6337618" y="1460648"/>
            <a:ext cx="520569" cy="520569"/>
          </a:xfrm>
          <a:prstGeom prst="roundRect">
            <a:avLst>
              <a:gd name="adj" fmla="val 21957"/>
            </a:avLst>
          </a:prstGeom>
          <a:solidFill>
            <a:srgbClr val="0D47A1">
              <a:alpha val="30196"/>
            </a:srgbClr>
          </a:solidFill>
          <a:ln w="20992">
            <a:solidFill>
              <a:srgbClr val="0D47A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6467851" y="160513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8575" y="28575"/>
                </a:moveTo>
                <a:cubicBezTo>
                  <a:pt x="28575" y="12814"/>
                  <a:pt x="41389" y="0"/>
                  <a:pt x="57150" y="0"/>
                </a:cubicBezTo>
                <a:lnTo>
                  <a:pt x="128588" y="0"/>
                </a:lnTo>
                <a:cubicBezTo>
                  <a:pt x="144348" y="0"/>
                  <a:pt x="157163" y="12814"/>
                  <a:pt x="157163" y="28575"/>
                </a:cubicBezTo>
                <a:lnTo>
                  <a:pt x="157163" y="128588"/>
                </a:lnTo>
                <a:cubicBezTo>
                  <a:pt x="176897" y="128588"/>
                  <a:pt x="192881" y="144572"/>
                  <a:pt x="192881" y="164306"/>
                </a:cubicBezTo>
                <a:lnTo>
                  <a:pt x="192881" y="169664"/>
                </a:lnTo>
                <a:cubicBezTo>
                  <a:pt x="192881" y="174575"/>
                  <a:pt x="196900" y="178594"/>
                  <a:pt x="201811" y="178594"/>
                </a:cubicBezTo>
                <a:cubicBezTo>
                  <a:pt x="206722" y="178594"/>
                  <a:pt x="210741" y="174575"/>
                  <a:pt x="210741" y="169664"/>
                </a:cubicBezTo>
                <a:lnTo>
                  <a:pt x="210741" y="112648"/>
                </a:lnTo>
                <a:cubicBezTo>
                  <a:pt x="196230" y="108094"/>
                  <a:pt x="185738" y="94565"/>
                  <a:pt x="185738" y="78581"/>
                </a:cubicBezTo>
                <a:lnTo>
                  <a:pt x="185738" y="64294"/>
                </a:lnTo>
                <a:cubicBezTo>
                  <a:pt x="185738" y="60365"/>
                  <a:pt x="188952" y="57150"/>
                  <a:pt x="192881" y="57150"/>
                </a:cubicBezTo>
                <a:lnTo>
                  <a:pt x="200025" y="57150"/>
                </a:lnTo>
                <a:lnTo>
                  <a:pt x="200025" y="35719"/>
                </a:lnTo>
                <a:cubicBezTo>
                  <a:pt x="200025" y="31790"/>
                  <a:pt x="203240" y="28575"/>
                  <a:pt x="207169" y="28575"/>
                </a:cubicBezTo>
                <a:cubicBezTo>
                  <a:pt x="211098" y="28575"/>
                  <a:pt x="214313" y="31790"/>
                  <a:pt x="214313" y="35719"/>
                </a:cubicBezTo>
                <a:lnTo>
                  <a:pt x="214313" y="57150"/>
                </a:lnTo>
                <a:lnTo>
                  <a:pt x="228600" y="57150"/>
                </a:lnTo>
                <a:lnTo>
                  <a:pt x="228600" y="35719"/>
                </a:lnTo>
                <a:cubicBezTo>
                  <a:pt x="228600" y="31790"/>
                  <a:pt x="231815" y="28575"/>
                  <a:pt x="235744" y="28575"/>
                </a:cubicBezTo>
                <a:cubicBezTo>
                  <a:pt x="239673" y="28575"/>
                  <a:pt x="242888" y="31790"/>
                  <a:pt x="242888" y="35719"/>
                </a:cubicBezTo>
                <a:lnTo>
                  <a:pt x="242888" y="57150"/>
                </a:lnTo>
                <a:lnTo>
                  <a:pt x="250031" y="57150"/>
                </a:lnTo>
                <a:cubicBezTo>
                  <a:pt x="253960" y="57150"/>
                  <a:pt x="257175" y="60365"/>
                  <a:pt x="257175" y="64294"/>
                </a:cubicBezTo>
                <a:lnTo>
                  <a:pt x="257175" y="78581"/>
                </a:lnTo>
                <a:cubicBezTo>
                  <a:pt x="257175" y="94565"/>
                  <a:pt x="246683" y="108094"/>
                  <a:pt x="232172" y="112648"/>
                </a:cubicBezTo>
                <a:lnTo>
                  <a:pt x="232172" y="169664"/>
                </a:lnTo>
                <a:cubicBezTo>
                  <a:pt x="232172" y="186452"/>
                  <a:pt x="218599" y="200025"/>
                  <a:pt x="201811" y="200025"/>
                </a:cubicBezTo>
                <a:cubicBezTo>
                  <a:pt x="185023" y="200025"/>
                  <a:pt x="171450" y="186452"/>
                  <a:pt x="171450" y="169664"/>
                </a:cubicBezTo>
                <a:lnTo>
                  <a:pt x="171450" y="164306"/>
                </a:lnTo>
                <a:cubicBezTo>
                  <a:pt x="171450" y="156403"/>
                  <a:pt x="165065" y="150019"/>
                  <a:pt x="157163" y="150019"/>
                </a:cubicBezTo>
                <a:lnTo>
                  <a:pt x="157163" y="207794"/>
                </a:lnTo>
                <a:cubicBezTo>
                  <a:pt x="161315" y="209267"/>
                  <a:pt x="164306" y="213241"/>
                  <a:pt x="164306" y="217884"/>
                </a:cubicBezTo>
                <a:cubicBezTo>
                  <a:pt x="164306" y="223823"/>
                  <a:pt x="159529" y="228600"/>
                  <a:pt x="153591" y="228600"/>
                </a:cubicBezTo>
                <a:lnTo>
                  <a:pt x="32147" y="228600"/>
                </a:lnTo>
                <a:cubicBezTo>
                  <a:pt x="26209" y="228600"/>
                  <a:pt x="21431" y="223823"/>
                  <a:pt x="21431" y="217884"/>
                </a:cubicBezTo>
                <a:cubicBezTo>
                  <a:pt x="21431" y="213196"/>
                  <a:pt x="24423" y="209267"/>
                  <a:pt x="28575" y="207794"/>
                </a:cubicBezTo>
                <a:lnTo>
                  <a:pt x="28575" y="28575"/>
                </a:lnTo>
                <a:close/>
                <a:moveTo>
                  <a:pt x="65499" y="84698"/>
                </a:moveTo>
                <a:lnTo>
                  <a:pt x="82912" y="84698"/>
                </a:lnTo>
                <a:lnTo>
                  <a:pt x="73581" y="114568"/>
                </a:lnTo>
                <a:cubicBezTo>
                  <a:pt x="72509" y="117961"/>
                  <a:pt x="75054" y="121444"/>
                  <a:pt x="78626" y="121444"/>
                </a:cubicBezTo>
                <a:cubicBezTo>
                  <a:pt x="79921" y="121444"/>
                  <a:pt x="81126" y="120997"/>
                  <a:pt x="82108" y="120149"/>
                </a:cubicBezTo>
                <a:lnTo>
                  <a:pt x="124346" y="83537"/>
                </a:lnTo>
                <a:cubicBezTo>
                  <a:pt x="125730" y="82332"/>
                  <a:pt x="126534" y="80590"/>
                  <a:pt x="126534" y="78760"/>
                </a:cubicBezTo>
                <a:cubicBezTo>
                  <a:pt x="126534" y="75277"/>
                  <a:pt x="123721" y="72464"/>
                  <a:pt x="120238" y="72464"/>
                </a:cubicBezTo>
                <a:lnTo>
                  <a:pt x="102825" y="72464"/>
                </a:lnTo>
                <a:lnTo>
                  <a:pt x="112157" y="42595"/>
                </a:lnTo>
                <a:cubicBezTo>
                  <a:pt x="113228" y="39201"/>
                  <a:pt x="110683" y="35719"/>
                  <a:pt x="107112" y="35719"/>
                </a:cubicBezTo>
                <a:cubicBezTo>
                  <a:pt x="105817" y="35719"/>
                  <a:pt x="104611" y="36165"/>
                  <a:pt x="103629" y="37014"/>
                </a:cubicBezTo>
                <a:lnTo>
                  <a:pt x="61392" y="73625"/>
                </a:lnTo>
                <a:cubicBezTo>
                  <a:pt x="60007" y="74831"/>
                  <a:pt x="59204" y="76572"/>
                  <a:pt x="59204" y="78403"/>
                </a:cubicBezTo>
                <a:cubicBezTo>
                  <a:pt x="59204" y="81885"/>
                  <a:pt x="62017" y="84698"/>
                  <a:pt x="65499" y="84698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7015421" y="1452776"/>
            <a:ext cx="2314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Kiosque SmartCharge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015421" y="1757567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Recharge sur place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329746" y="2062358"/>
            <a:ext cx="5324475" cy="2867025"/>
          </a:xfrm>
          <a:prstGeom prst="roundRect">
            <a:avLst>
              <a:gd name="adj" fmla="val 3987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2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3970" y="2646271"/>
          <a:ext cx="5095875" cy="7063317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C9A24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Élément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5486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C9A24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Calcul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5486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49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Tarif de recharge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DH / heure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49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Utilisation moyenne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10h / jour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49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Nombre de bornes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 bornes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C9A24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Revenu mensuel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 b="1" u="none" dirty="0">
                          <a:solidFill>
                            <a:srgbClr val="C9A24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~12 000 DH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9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6332370" y="5005877"/>
            <a:ext cx="2596048" cy="691048"/>
          </a:xfrm>
          <a:prstGeom prst="roundRect">
            <a:avLst>
              <a:gd name="adj" fmla="val 11027"/>
            </a:avLst>
          </a:prstGeom>
          <a:solidFill>
            <a:srgbClr val="C9A24A">
              <a:alpha val="10196"/>
            </a:srgbClr>
          </a:soli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6354020" y="5084676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373070" y="538946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Bornes installées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9051291" y="5005877"/>
            <a:ext cx="2596048" cy="691048"/>
          </a:xfrm>
          <a:prstGeom prst="roundRect">
            <a:avLst>
              <a:gd name="adj" fmla="val 11027"/>
            </a:avLst>
          </a:prstGeom>
          <a:solidFill>
            <a:srgbClr val="0D47A1">
              <a:alpha val="20000"/>
            </a:srgbClr>
          </a:solidFill>
          <a:ln w="6997">
            <a:solidFill>
              <a:srgbClr val="0D47A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5"/>
          <p:cNvSpPr/>
          <p:nvPr/>
        </p:nvSpPr>
        <p:spPr>
          <a:xfrm>
            <a:off x="9072942" y="5084676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DH/h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9091992" y="538946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Tarif accessible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383591" y="5935908"/>
            <a:ext cx="11425723" cy="538648"/>
          </a:xfrm>
          <a:prstGeom prst="roundRect">
            <a:avLst>
              <a:gd name="adj" fmla="val 21220"/>
            </a:avLst>
          </a:prstGeom>
          <a:gradFill flip="none" rotWithShape="1">
            <a:gsLst>
              <a:gs pos="0">
                <a:srgbClr val="C9A24A">
                  <a:alpha val="20000"/>
                </a:srgbClr>
              </a:gs>
              <a:gs pos="100000">
                <a:srgbClr val="0D47A1">
                  <a:alpha val="20000"/>
                </a:srgbClr>
              </a:gs>
            </a:gsLst>
            <a:lin ang="0" scaled="1"/>
          </a:gra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28"/>
          <p:cNvSpPr/>
          <p:nvPr/>
        </p:nvSpPr>
        <p:spPr>
          <a:xfrm>
            <a:off x="529015" y="609080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9"/>
          <p:cNvSpPr/>
          <p:nvPr/>
        </p:nvSpPr>
        <p:spPr>
          <a:xfrm>
            <a:off x="938478" y="6090805"/>
            <a:ext cx="461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Revenus combinés estimés :</a:t>
            </a: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Powerbank + Kiosque + Accessoires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10062010" y="6052756"/>
            <a:ext cx="1743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9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13 290 DH/mois</a:t>
            </a:r>
            <a:endParaRPr lang="en-US" sz="1600" dirty="0"/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93CAB2FD-28E4-942F-243B-8A94FC651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5530"/>
            <a:ext cx="12192000" cy="69235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Table 2">
            <a:extLst>
              <a:ext uri="{FF2B5EF4-FFF2-40B4-BE49-F238E27FC236}">
                <a16:creationId xmlns:a16="http://schemas.microsoft.com/office/drawing/2014/main" id="{AFC199E5-8394-7CF9-CB1B-CD706FBA3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089988"/>
              </p:ext>
            </p:extLst>
          </p:nvPr>
        </p:nvGraphicFramePr>
        <p:xfrm>
          <a:off x="38291" y="1239057"/>
          <a:ext cx="6096000" cy="5387328"/>
        </p:xfrm>
        <a:graphic>
          <a:graphicData uri="http://schemas.openxmlformats.org/drawingml/2006/table">
            <a:tbl>
              <a:tblPr/>
              <a:tblGrid>
                <a:gridCol w="1915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272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chemeClr val="bg2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Catégorie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chemeClr val="bg2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Détail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chemeClr val="bg2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Montant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 (DH)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272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Prix de vente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SmartCharge V1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249 DH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581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Coût production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 err="1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Composants</a:t>
                      </a: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+ batterie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-190 DH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581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Coût </a:t>
                      </a:r>
                      <a:r>
                        <a:rPr lang="en-US" sz="1800" dirty="0" err="1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Logistique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 err="1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Emballage</a:t>
                      </a: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+ transport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-10 DH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581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Coût SAV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 err="1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Garantie</a:t>
                      </a: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+ </a:t>
                      </a:r>
                      <a:r>
                        <a:rPr lang="en-US" sz="1800" dirty="0" err="1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pertes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-5 DH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581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Marge par vente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Profit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unitaire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= 44 DH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7" name="Table 3">
            <a:extLst>
              <a:ext uri="{FF2B5EF4-FFF2-40B4-BE49-F238E27FC236}">
                <a16:creationId xmlns:a16="http://schemas.microsoft.com/office/drawing/2014/main" id="{4E0C42A5-C2DC-18DC-8C95-807047401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055039"/>
              </p:ext>
            </p:extLst>
          </p:nvPr>
        </p:nvGraphicFramePr>
        <p:xfrm>
          <a:off x="6324601" y="1847717"/>
          <a:ext cx="5455920" cy="4816146"/>
        </p:xfrm>
        <a:graphic>
          <a:graphicData uri="http://schemas.openxmlformats.org/drawingml/2006/table">
            <a:tbl>
              <a:tblPr/>
              <a:tblGrid>
                <a:gridCol w="2885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0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43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chemeClr val="bg2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Élément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chemeClr val="bg2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Calcul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43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Recharge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 DH / </a:t>
                      </a:r>
                      <a:r>
                        <a:rPr lang="en-US" sz="1800" dirty="0" err="1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heure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1482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 err="1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Utilisation</a:t>
                      </a: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moyenne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10h / jour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21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 err="1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Revenu</a:t>
                      </a: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journalier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 DH x 20 borne x 30 </a:t>
                      </a:r>
                      <a:r>
                        <a:rPr lang="en-US" sz="1800" dirty="0" err="1">
                          <a:solidFill>
                            <a:schemeClr val="bg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jours</a:t>
                      </a: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21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Revenu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mensuel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~12000 DH / borne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8" name="TextBox 4">
            <a:extLst>
              <a:ext uri="{FF2B5EF4-FFF2-40B4-BE49-F238E27FC236}">
                <a16:creationId xmlns:a16="http://schemas.microsoft.com/office/drawing/2014/main" id="{E09C1B66-3D24-6619-44C8-45AE35407933}"/>
              </a:ext>
            </a:extLst>
          </p:cNvPr>
          <p:cNvSpPr txBox="1"/>
          <p:nvPr/>
        </p:nvSpPr>
        <p:spPr>
          <a:xfrm>
            <a:off x="1249681" y="-95708"/>
            <a:ext cx="1079030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Chiffres &amp; </a:t>
            </a:r>
            <a:r>
              <a:rPr lang="en-US" sz="5199" b="1" dirty="0" err="1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Résultats</a:t>
            </a:r>
            <a:r>
              <a:rPr lang="en-US" sz="5199" b="1" dirty="0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du </a:t>
            </a:r>
            <a:r>
              <a:rPr lang="en-US" sz="5199" b="1" dirty="0" err="1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projet</a:t>
            </a:r>
            <a:endParaRPr lang="en-US" sz="5199" b="1" dirty="0">
              <a:solidFill>
                <a:srgbClr val="FF3131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89" name="TextBox 5">
            <a:extLst>
              <a:ext uri="{FF2B5EF4-FFF2-40B4-BE49-F238E27FC236}">
                <a16:creationId xmlns:a16="http://schemas.microsoft.com/office/drawing/2014/main" id="{97DDED8D-ECC1-A2AF-D3EF-FF50B624C531}"/>
              </a:ext>
            </a:extLst>
          </p:cNvPr>
          <p:cNvSpPr txBox="1"/>
          <p:nvPr/>
        </p:nvSpPr>
        <p:spPr>
          <a:xfrm>
            <a:off x="0" y="664861"/>
            <a:ext cx="6324600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chemeClr val="bg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REVENUS Power bank 2 </a:t>
            </a:r>
            <a:r>
              <a:rPr lang="en-US" sz="3399" b="1" dirty="0" err="1">
                <a:solidFill>
                  <a:schemeClr val="bg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</a:t>
            </a:r>
            <a:r>
              <a:rPr lang="en-US" sz="3399" b="1" dirty="0">
                <a:solidFill>
                  <a:schemeClr val="bg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1</a:t>
            </a:r>
          </a:p>
        </p:txBody>
      </p:sp>
      <p:sp>
        <p:nvSpPr>
          <p:cNvPr id="90" name="TextBox 6">
            <a:extLst>
              <a:ext uri="{FF2B5EF4-FFF2-40B4-BE49-F238E27FC236}">
                <a16:creationId xmlns:a16="http://schemas.microsoft.com/office/drawing/2014/main" id="{28230ABA-523A-384C-DB60-55CD7637BC54}"/>
              </a:ext>
            </a:extLst>
          </p:cNvPr>
          <p:cNvSpPr txBox="1"/>
          <p:nvPr/>
        </p:nvSpPr>
        <p:spPr>
          <a:xfrm>
            <a:off x="5602862" y="729895"/>
            <a:ext cx="7158858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chemeClr val="bg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REVENUS </a:t>
            </a:r>
            <a:r>
              <a:rPr lang="en-US" sz="3399" b="1" dirty="0" err="1">
                <a:solidFill>
                  <a:schemeClr val="bg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Mensuel</a:t>
            </a:r>
            <a:r>
              <a:rPr lang="en-US" sz="3399" b="1" dirty="0">
                <a:solidFill>
                  <a:schemeClr val="bg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KIOSQUE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846f6d618027a8df76a1e0aab628aeab25deb36d.jp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F172A">
                  <a:alpha val="98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C9A24A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388839" y="564726"/>
            <a:ext cx="1053969" cy="1053969"/>
          </a:xfrm>
          <a:prstGeom prst="roundRect">
            <a:avLst>
              <a:gd name="adj" fmla="val 21689"/>
            </a:avLst>
          </a:prstGeom>
          <a:solidFill>
            <a:srgbClr val="C9A24A">
              <a:alpha val="20000"/>
            </a:srgbClr>
          </a:solidFill>
          <a:ln w="20992">
            <a:solidFill>
              <a:srgbClr val="C9A2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63415" y="804407"/>
            <a:ext cx="990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C9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676223" y="1061638"/>
            <a:ext cx="1524000" cy="57150"/>
          </a:xfrm>
          <a:prstGeom prst="roundRect">
            <a:avLst>
              <a:gd name="adj" fmla="val 0"/>
            </a:avLst>
          </a:pr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380967" y="2004543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0967" y="3223706"/>
            <a:ext cx="7600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C9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Équipe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0967" y="4176206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Analyse stratégique de l'environnement et présentation de l'équipe fondatrice passionnée derrière Solaris Lux.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3591" y="5378882"/>
            <a:ext cx="2634148" cy="919648"/>
          </a:xfrm>
          <a:prstGeom prst="roundRect">
            <a:avLst>
              <a:gd name="adj" fmla="val 12429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724343" y="569572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32172" y="116086"/>
                </a:moveTo>
                <a:cubicBezTo>
                  <a:pt x="232172" y="141703"/>
                  <a:pt x="223856" y="165367"/>
                  <a:pt x="209848" y="184565"/>
                </a:cubicBezTo>
                <a:lnTo>
                  <a:pt x="280504" y="255277"/>
                </a:lnTo>
                <a:cubicBezTo>
                  <a:pt x="287480" y="262254"/>
                  <a:pt x="287480" y="273583"/>
                  <a:pt x="280504" y="280560"/>
                </a:cubicBezTo>
                <a:cubicBezTo>
                  <a:pt x="273527" y="287536"/>
                  <a:pt x="262198" y="287536"/>
                  <a:pt x="255222" y="280560"/>
                </a:cubicBezTo>
                <a:lnTo>
                  <a:pt x="184565" y="209848"/>
                </a:lnTo>
                <a:cubicBezTo>
                  <a:pt x="165367" y="223856"/>
                  <a:pt x="141703" y="232172"/>
                  <a:pt x="116086" y="232172"/>
                </a:cubicBezTo>
                <a:cubicBezTo>
                  <a:pt x="51960" y="232172"/>
                  <a:pt x="0" y="180212"/>
                  <a:pt x="0" y="116086"/>
                </a:cubicBezTo>
                <a:cubicBezTo>
                  <a:pt x="0" y="51960"/>
                  <a:pt x="51960" y="0"/>
                  <a:pt x="116086" y="0"/>
                </a:cubicBezTo>
                <a:cubicBezTo>
                  <a:pt x="180212" y="0"/>
                  <a:pt x="232172" y="51960"/>
                  <a:pt x="232172" y="116086"/>
                </a:cubicBezTo>
                <a:close/>
                <a:moveTo>
                  <a:pt x="116086" y="196453"/>
                </a:moveTo>
                <a:cubicBezTo>
                  <a:pt x="160442" y="196453"/>
                  <a:pt x="196453" y="160442"/>
                  <a:pt x="196453" y="116086"/>
                </a:cubicBezTo>
                <a:cubicBezTo>
                  <a:pt x="196453" y="71730"/>
                  <a:pt x="160442" y="35719"/>
                  <a:pt x="116086" y="35719"/>
                </a:cubicBezTo>
                <a:cubicBezTo>
                  <a:pt x="71730" y="35719"/>
                  <a:pt x="35719" y="71730"/>
                  <a:pt x="35719" y="116086"/>
                </a:cubicBezTo>
                <a:cubicBezTo>
                  <a:pt x="35719" y="160442"/>
                  <a:pt x="71730" y="196453"/>
                  <a:pt x="116086" y="196453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1200547" y="5571990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PESTEL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00547" y="5838653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 facteurs analysés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329240" y="5378882"/>
            <a:ext cx="2119798" cy="919648"/>
          </a:xfrm>
          <a:prstGeom prst="roundRect">
            <a:avLst>
              <a:gd name="adj" fmla="val 12429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0D47A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3634272" y="5695727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146195" y="5571990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Équipe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146195" y="5838653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fondateurs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ED1473F4-E917-F8C8-D193-B14B1CC4E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512324"/>
              </p:ext>
            </p:extLst>
          </p:nvPr>
        </p:nvGraphicFramePr>
        <p:xfrm>
          <a:off x="205524" y="2341021"/>
          <a:ext cx="3063508" cy="3532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754">
                  <a:extLst>
                    <a:ext uri="{9D8B030D-6E8A-4147-A177-3AD203B41FA5}">
                      <a16:colId xmlns:a16="http://schemas.microsoft.com/office/drawing/2014/main" val="2135750550"/>
                    </a:ext>
                  </a:extLst>
                </a:gridCol>
                <a:gridCol w="1531754">
                  <a:extLst>
                    <a:ext uri="{9D8B030D-6E8A-4147-A177-3AD203B41FA5}">
                      <a16:colId xmlns:a16="http://schemas.microsoft.com/office/drawing/2014/main" val="2826030348"/>
                    </a:ext>
                  </a:extLst>
                </a:gridCol>
              </a:tblGrid>
              <a:tr h="485898">
                <a:tc>
                  <a:txBody>
                    <a:bodyPr/>
                    <a:lstStyle/>
                    <a:p>
                      <a:r>
                        <a:rPr lang="fr-FR" dirty="0"/>
                        <a:t>Charge fixe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Montant réaliste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14210"/>
                  </a:ext>
                </a:extLst>
              </a:tr>
              <a:tr h="485898">
                <a:tc>
                  <a:txBody>
                    <a:bodyPr/>
                    <a:lstStyle/>
                    <a:p>
                      <a:r>
                        <a:rPr lang="fr-FR" dirty="0"/>
                        <a:t>Électricité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200 – 600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259494"/>
                  </a:ext>
                </a:extLst>
              </a:tr>
              <a:tr h="485898">
                <a:tc>
                  <a:txBody>
                    <a:bodyPr/>
                    <a:lstStyle/>
                    <a:p>
                      <a:r>
                        <a:rPr lang="fr-FR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1 500 – 3 000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794406"/>
                  </a:ext>
                </a:extLst>
              </a:tr>
              <a:tr h="485898">
                <a:tc>
                  <a:txBody>
                    <a:bodyPr/>
                    <a:lstStyle/>
                    <a:p>
                      <a:r>
                        <a:rPr lang="fr-FR" dirty="0"/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200 – 500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5005"/>
                  </a:ext>
                </a:extLst>
              </a:tr>
              <a:tr h="485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Internet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50 – 150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761611"/>
                  </a:ext>
                </a:extLst>
              </a:tr>
              <a:tr h="485898">
                <a:tc>
                  <a:txBody>
                    <a:bodyPr/>
                    <a:lstStyle/>
                    <a:p>
                      <a:r>
                        <a:rPr lang="fr-FR" dirty="0"/>
                        <a:t>TOTAL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≈ 2 000 – 4 000 DH / mois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174079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85D68343-B061-2B9E-FC25-C7DBAC31D7DA}"/>
              </a:ext>
            </a:extLst>
          </p:cNvPr>
          <p:cNvSpPr txBox="1"/>
          <p:nvPr/>
        </p:nvSpPr>
        <p:spPr>
          <a:xfrm>
            <a:off x="205524" y="984863"/>
            <a:ext cx="4825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u="sng" dirty="0"/>
              <a:t>Les Charges fixes   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F003DEC0-2C06-1763-B377-09280A7A1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812176"/>
              </p:ext>
            </p:extLst>
          </p:nvPr>
        </p:nvGraphicFramePr>
        <p:xfrm>
          <a:off x="3505200" y="2368906"/>
          <a:ext cx="8686800" cy="3211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37000663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1868376997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438579068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736201947"/>
                    </a:ext>
                  </a:extLst>
                </a:gridCol>
              </a:tblGrid>
              <a:tr h="482867">
                <a:tc>
                  <a:txBody>
                    <a:bodyPr/>
                    <a:lstStyle/>
                    <a:p>
                      <a:r>
                        <a:rPr lang="fr-FR" dirty="0"/>
                        <a:t>Élément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Coût unitaire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Quantité (exemple)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2542"/>
                  </a:ext>
                </a:extLst>
              </a:tr>
              <a:tr h="482867">
                <a:tc>
                  <a:txBody>
                    <a:bodyPr/>
                    <a:lstStyle/>
                    <a:p>
                      <a:r>
                        <a:rPr lang="fr-FR" dirty="0"/>
                        <a:t>SmartCharge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205 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 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2 050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586076"/>
                  </a:ext>
                </a:extLst>
              </a:tr>
              <a:tr h="482867">
                <a:tc>
                  <a:txBody>
                    <a:bodyPr/>
                    <a:lstStyle/>
                    <a:p>
                      <a:r>
                        <a:rPr lang="fr-FR" dirty="0"/>
                        <a:t>Câbles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15 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  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162151"/>
                  </a:ext>
                </a:extLst>
              </a:tr>
              <a:tr h="482867">
                <a:tc>
                  <a:txBody>
                    <a:bodyPr/>
                    <a:lstStyle/>
                    <a:p>
                      <a:r>
                        <a:rPr lang="fr-FR" dirty="0"/>
                        <a:t>Adapteur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50 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  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500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485563"/>
                  </a:ext>
                </a:extLst>
              </a:tr>
              <a:tr h="482867">
                <a:tc>
                  <a:txBody>
                    <a:bodyPr/>
                    <a:lstStyle/>
                    <a:p>
                      <a:r>
                        <a:rPr lang="fr-FR" dirty="0"/>
                        <a:t>Support portatif du téléphone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60 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  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600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617777"/>
                  </a:ext>
                </a:extLst>
              </a:tr>
              <a:tr h="482867">
                <a:tc>
                  <a:txBody>
                    <a:bodyPr/>
                    <a:lstStyle/>
                    <a:p>
                      <a:r>
                        <a:rPr lang="fr-FR" dirty="0"/>
                        <a:t>Total charges variables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___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___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3 450 DH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996680"/>
                  </a:ext>
                </a:extLst>
              </a:tr>
            </a:tbl>
          </a:graphicData>
        </a:graphic>
      </p:graphicFrame>
      <p:sp>
        <p:nvSpPr>
          <p:cNvPr id="17" name="ZoneTexte 16">
            <a:extLst>
              <a:ext uri="{FF2B5EF4-FFF2-40B4-BE49-F238E27FC236}">
                <a16:creationId xmlns:a16="http://schemas.microsoft.com/office/drawing/2014/main" id="{3219980A-640E-7D5D-DAD8-C968F0C0968A}"/>
              </a:ext>
            </a:extLst>
          </p:cNvPr>
          <p:cNvSpPr txBox="1"/>
          <p:nvPr/>
        </p:nvSpPr>
        <p:spPr>
          <a:xfrm>
            <a:off x="2423771" y="-177160"/>
            <a:ext cx="82079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200" b="1" dirty="0">
                <a:solidFill>
                  <a:srgbClr val="FF0000"/>
                </a:solidFill>
              </a:rPr>
              <a:t>Charges variables  : </a:t>
            </a:r>
          </a:p>
          <a:p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E8607EA-62CA-ACA2-EC88-A52C5309E93B}"/>
              </a:ext>
            </a:extLst>
          </p:cNvPr>
          <p:cNvSpPr txBox="1"/>
          <p:nvPr/>
        </p:nvSpPr>
        <p:spPr>
          <a:xfrm>
            <a:off x="6527763" y="862702"/>
            <a:ext cx="545871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u="sng" dirty="0"/>
              <a:t>Les Charges  Variables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9809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2192000" y="6286500"/>
            <a:ext cx="5485329" cy="46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strike="sng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8FE6746-515D-E42A-9187-708F93A2BD25}"/>
              </a:ext>
            </a:extLst>
          </p:cNvPr>
          <p:cNvSpPr txBox="1"/>
          <p:nvPr/>
        </p:nvSpPr>
        <p:spPr>
          <a:xfrm>
            <a:off x="975360" y="-47131"/>
            <a:ext cx="102516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Tableau récapitulatif des revenus mensuels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93E51A97-7999-28B4-0496-91D54CBEA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955600"/>
              </p:ext>
            </p:extLst>
          </p:nvPr>
        </p:nvGraphicFramePr>
        <p:xfrm>
          <a:off x="3007146" y="722310"/>
          <a:ext cx="9184854" cy="359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2427">
                  <a:extLst>
                    <a:ext uri="{9D8B030D-6E8A-4147-A177-3AD203B41FA5}">
                      <a16:colId xmlns:a16="http://schemas.microsoft.com/office/drawing/2014/main" val="68524329"/>
                    </a:ext>
                  </a:extLst>
                </a:gridCol>
                <a:gridCol w="4592427">
                  <a:extLst>
                    <a:ext uri="{9D8B030D-6E8A-4147-A177-3AD203B41FA5}">
                      <a16:colId xmlns:a16="http://schemas.microsoft.com/office/drawing/2014/main" val="3904435758"/>
                    </a:ext>
                  </a:extLst>
                </a:gridCol>
              </a:tblGrid>
              <a:tr h="718410">
                <a:tc>
                  <a:txBody>
                    <a:bodyPr/>
                    <a:lstStyle/>
                    <a:p>
                      <a:r>
                        <a:rPr lang="fr-FR" dirty="0"/>
                        <a:t>Source de revenu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Montant (DH)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736078"/>
                  </a:ext>
                </a:extLst>
              </a:tr>
              <a:tr h="718410">
                <a:tc>
                  <a:txBody>
                    <a:bodyPr/>
                    <a:lstStyle/>
                    <a:p>
                      <a:r>
                        <a:rPr lang="fr-FR" dirty="0"/>
                        <a:t>Borne SmartCharge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12 000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722522"/>
                  </a:ext>
                </a:extLst>
              </a:tr>
              <a:tr h="718410">
                <a:tc>
                  <a:txBody>
                    <a:bodyPr/>
                    <a:lstStyle/>
                    <a:p>
                      <a:r>
                        <a:rPr lang="fr-FR" dirty="0" err="1"/>
                        <a:t>Powerbank</a:t>
                      </a:r>
                      <a:r>
                        <a:rPr lang="fr-FR" dirty="0"/>
                        <a:t> (profit)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440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603439"/>
                  </a:ext>
                </a:extLst>
              </a:tr>
              <a:tr h="718410">
                <a:tc>
                  <a:txBody>
                    <a:bodyPr/>
                    <a:lstStyle/>
                    <a:p>
                      <a:r>
                        <a:rPr lang="fr-FR" dirty="0"/>
                        <a:t>Accessoires (profit)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850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34424"/>
                  </a:ext>
                </a:extLst>
              </a:tr>
              <a:tr h="718410">
                <a:tc>
                  <a:txBody>
                    <a:bodyPr/>
                    <a:lstStyle/>
                    <a:p>
                      <a:r>
                        <a:rPr lang="fr-FR" dirty="0"/>
                        <a:t>Total CA mensuel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13 290 DH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830275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AB4E8C88-1B93-4508-06B7-57A79558F39E}"/>
              </a:ext>
            </a:extLst>
          </p:cNvPr>
          <p:cNvSpPr txBox="1"/>
          <p:nvPr/>
        </p:nvSpPr>
        <p:spPr>
          <a:xfrm>
            <a:off x="-213896" y="3811012"/>
            <a:ext cx="141127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>
                <a:solidFill>
                  <a:srgbClr val="00B0F0"/>
                </a:solidFill>
              </a:rPr>
              <a:t>  Résumé global </a:t>
            </a:r>
            <a:endParaRPr lang="fr-FR" sz="3200" dirty="0">
              <a:solidFill>
                <a:srgbClr val="00B0F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3200" b="1" dirty="0"/>
              <a:t> CA mensuel estimé : 13 290 DH</a:t>
            </a:r>
            <a:r>
              <a:rPr lang="fr-FR" sz="32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3200" b="1" dirty="0"/>
              <a:t> Charges totales : 6 450 DH</a:t>
            </a:r>
            <a:r>
              <a:rPr lang="fr-FR" sz="32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3200" b="1" dirty="0"/>
              <a:t> Bénéfice net : +6 840 DH</a:t>
            </a:r>
            <a:r>
              <a:rPr lang="fr-FR" sz="32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3200" b="1" dirty="0"/>
              <a:t> Marge globale : ≈ 51 %</a:t>
            </a:r>
            <a:r>
              <a:rPr lang="fr-FR" sz="32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3200" b="1" dirty="0"/>
              <a:t> CA annuel : ≈ 159 480 DH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4060649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43583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EC779-9603-8EE9-C92E-71552044F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74099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070DB-EC16-A7FD-67C1-4DFB4BF16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06509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B9B65-ED4E-40F4-7B56-8FB2F1679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09867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67" y="380967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 — Analyse &amp; Équipe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67" y="685758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PESTEL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67" y="1180947"/>
            <a:ext cx="914400" cy="38100"/>
          </a:xfrm>
          <a:prstGeom prst="roundRect">
            <a:avLst>
              <a:gd name="adj" fmla="val 0"/>
            </a:avLst>
          </a:pr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99335" y="1409477"/>
            <a:ext cx="3685493" cy="2105025"/>
          </a:xfrm>
          <a:custGeom>
            <a:avLst/>
            <a:gdLst/>
            <a:ahLst/>
            <a:cxnLst/>
            <a:rect l="l" t="t" r="r" b="b"/>
            <a:pathLst>
              <a:path w="3685493" h="2105025">
                <a:moveTo>
                  <a:pt x="36703" y="0"/>
                </a:moveTo>
                <a:lnTo>
                  <a:pt x="3533140" y="0"/>
                </a:lnTo>
                <a:cubicBezTo>
                  <a:pt x="3617252" y="0"/>
                  <a:pt x="3685540" y="68288"/>
                  <a:pt x="3685540" y="152400"/>
                </a:cubicBezTo>
                <a:lnTo>
                  <a:pt x="3685540" y="1952625"/>
                </a:lnTo>
                <a:cubicBezTo>
                  <a:pt x="3685540" y="2036737"/>
                  <a:pt x="3617252" y="2105025"/>
                  <a:pt x="3533140" y="2105025"/>
                </a:cubicBezTo>
                <a:lnTo>
                  <a:pt x="36703" y="2105025"/>
                </a:lnTo>
                <a:cubicBezTo>
                  <a:pt x="16432" y="2105025"/>
                  <a:pt x="0" y="2088593"/>
                  <a:pt x="0" y="2068322"/>
                </a:cubicBezTo>
                <a:lnTo>
                  <a:pt x="0" y="36703"/>
                </a:lnTo>
                <a:cubicBezTo>
                  <a:pt x="0" y="16432"/>
                  <a:pt x="16432" y="0"/>
                  <a:pt x="36703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99335" y="1409477"/>
            <a:ext cx="36736" cy="2105025"/>
          </a:xfrm>
          <a:custGeom>
            <a:avLst/>
            <a:gdLst/>
            <a:ahLst/>
            <a:cxnLst/>
            <a:rect l="l" t="t" r="r" b="b"/>
            <a:pathLst>
              <a:path w="36736" h="2105025">
                <a:moveTo>
                  <a:pt x="36703" y="0"/>
                </a:moveTo>
                <a:lnTo>
                  <a:pt x="36703" y="0"/>
                </a:lnTo>
                <a:lnTo>
                  <a:pt x="36703" y="2105025"/>
                </a:lnTo>
                <a:lnTo>
                  <a:pt x="36703" y="2105025"/>
                </a:lnTo>
                <a:cubicBezTo>
                  <a:pt x="16432" y="2105025"/>
                  <a:pt x="0" y="2088593"/>
                  <a:pt x="0" y="2068322"/>
                </a:cubicBezTo>
                <a:lnTo>
                  <a:pt x="0" y="36703"/>
                </a:lnTo>
                <a:cubicBezTo>
                  <a:pt x="0" y="16432"/>
                  <a:pt x="16432" y="0"/>
                  <a:pt x="36703" y="0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08186" y="159996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C9A24A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41467" y="17332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8813" y="1898"/>
                </a:moveTo>
                <a:cubicBezTo>
                  <a:pt x="92720" y="-633"/>
                  <a:pt x="97780" y="-633"/>
                  <a:pt x="101687" y="1898"/>
                </a:cubicBezTo>
                <a:lnTo>
                  <a:pt x="185031" y="55476"/>
                </a:lnTo>
                <a:cubicBezTo>
                  <a:pt x="189458" y="58341"/>
                  <a:pt x="191505" y="63773"/>
                  <a:pt x="190016" y="68833"/>
                </a:cubicBezTo>
                <a:cubicBezTo>
                  <a:pt x="188528" y="73893"/>
                  <a:pt x="183877" y="77391"/>
                  <a:pt x="178594" y="77391"/>
                </a:cubicBezTo>
                <a:lnTo>
                  <a:pt x="166688" y="77391"/>
                </a:lnTo>
                <a:lnTo>
                  <a:pt x="166688" y="154781"/>
                </a:lnTo>
                <a:lnTo>
                  <a:pt x="185738" y="169069"/>
                </a:lnTo>
                <a:cubicBezTo>
                  <a:pt x="188751" y="171301"/>
                  <a:pt x="190500" y="174836"/>
                  <a:pt x="190500" y="178594"/>
                </a:cubicBezTo>
                <a:cubicBezTo>
                  <a:pt x="190500" y="185179"/>
                  <a:pt x="185179" y="190500"/>
                  <a:pt x="178594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ubicBezTo>
                  <a:pt x="0" y="174836"/>
                  <a:pt x="1749" y="171301"/>
                  <a:pt x="4763" y="169069"/>
                </a:cubicBezTo>
                <a:lnTo>
                  <a:pt x="23812" y="154781"/>
                </a:lnTo>
                <a:lnTo>
                  <a:pt x="23812" y="154781"/>
                </a:lnTo>
                <a:lnTo>
                  <a:pt x="23812" y="77391"/>
                </a:lnTo>
                <a:lnTo>
                  <a:pt x="11906" y="77391"/>
                </a:lnTo>
                <a:cubicBezTo>
                  <a:pt x="6623" y="77391"/>
                  <a:pt x="1972" y="73893"/>
                  <a:pt x="484" y="68833"/>
                </a:cubicBezTo>
                <a:cubicBezTo>
                  <a:pt x="-1005" y="63773"/>
                  <a:pt x="1042" y="58303"/>
                  <a:pt x="5469" y="55476"/>
                </a:cubicBezTo>
                <a:lnTo>
                  <a:pt x="88813" y="1898"/>
                </a:lnTo>
                <a:close/>
                <a:moveTo>
                  <a:pt x="125016" y="77391"/>
                </a:moveTo>
                <a:lnTo>
                  <a:pt x="125016" y="154781"/>
                </a:lnTo>
                <a:lnTo>
                  <a:pt x="148828" y="154781"/>
                </a:lnTo>
                <a:lnTo>
                  <a:pt x="148828" y="77391"/>
                </a:lnTo>
                <a:lnTo>
                  <a:pt x="125016" y="77391"/>
                </a:lnTo>
                <a:close/>
                <a:moveTo>
                  <a:pt x="83344" y="154781"/>
                </a:moveTo>
                <a:lnTo>
                  <a:pt x="107156" y="154781"/>
                </a:lnTo>
                <a:lnTo>
                  <a:pt x="107156" y="77391"/>
                </a:lnTo>
                <a:lnTo>
                  <a:pt x="83344" y="77391"/>
                </a:lnTo>
                <a:lnTo>
                  <a:pt x="83344" y="154781"/>
                </a:lnTo>
                <a:close/>
                <a:moveTo>
                  <a:pt x="41672" y="77391"/>
                </a:moveTo>
                <a:lnTo>
                  <a:pt x="41672" y="154781"/>
                </a:lnTo>
                <a:lnTo>
                  <a:pt x="65484" y="154781"/>
                </a:lnTo>
                <a:lnTo>
                  <a:pt x="65484" y="77391"/>
                </a:lnTo>
                <a:lnTo>
                  <a:pt x="41672" y="77391"/>
                </a:ln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179555" y="1695162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Politique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8186" y="220937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6799" y="2171333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Soutien des écoles et de l'OFPPT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8186" y="25522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6799" y="2514167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Encouragement des projets étudiants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60092" y="1409477"/>
            <a:ext cx="3685493" cy="2105025"/>
          </a:xfrm>
          <a:custGeom>
            <a:avLst/>
            <a:gdLst/>
            <a:ahLst/>
            <a:cxnLst/>
            <a:rect l="l" t="t" r="r" b="b"/>
            <a:pathLst>
              <a:path w="3685493" h="2105025">
                <a:moveTo>
                  <a:pt x="36703" y="0"/>
                </a:moveTo>
                <a:lnTo>
                  <a:pt x="3533140" y="0"/>
                </a:lnTo>
                <a:cubicBezTo>
                  <a:pt x="3617252" y="0"/>
                  <a:pt x="3685540" y="68288"/>
                  <a:pt x="3685540" y="152400"/>
                </a:cubicBezTo>
                <a:lnTo>
                  <a:pt x="3685540" y="1952625"/>
                </a:lnTo>
                <a:cubicBezTo>
                  <a:pt x="3685540" y="2036737"/>
                  <a:pt x="3617252" y="2105025"/>
                  <a:pt x="3533140" y="2105025"/>
                </a:cubicBezTo>
                <a:lnTo>
                  <a:pt x="36703" y="2105025"/>
                </a:lnTo>
                <a:cubicBezTo>
                  <a:pt x="16432" y="2105025"/>
                  <a:pt x="0" y="2088593"/>
                  <a:pt x="0" y="2068322"/>
                </a:cubicBezTo>
                <a:lnTo>
                  <a:pt x="0" y="36703"/>
                </a:lnTo>
                <a:cubicBezTo>
                  <a:pt x="0" y="16432"/>
                  <a:pt x="16432" y="0"/>
                  <a:pt x="36703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260092" y="1409477"/>
            <a:ext cx="36736" cy="2105025"/>
          </a:xfrm>
          <a:custGeom>
            <a:avLst/>
            <a:gdLst/>
            <a:ahLst/>
            <a:cxnLst/>
            <a:rect l="l" t="t" r="r" b="b"/>
            <a:pathLst>
              <a:path w="36736" h="2105025">
                <a:moveTo>
                  <a:pt x="36703" y="0"/>
                </a:moveTo>
                <a:lnTo>
                  <a:pt x="36703" y="0"/>
                </a:lnTo>
                <a:lnTo>
                  <a:pt x="36703" y="2105025"/>
                </a:lnTo>
                <a:lnTo>
                  <a:pt x="36703" y="2105025"/>
                </a:lnTo>
                <a:cubicBezTo>
                  <a:pt x="16432" y="2105025"/>
                  <a:pt x="0" y="2088593"/>
                  <a:pt x="0" y="2068322"/>
                </a:cubicBezTo>
                <a:lnTo>
                  <a:pt x="0" y="36703"/>
                </a:lnTo>
                <a:cubicBezTo>
                  <a:pt x="0" y="16432"/>
                  <a:pt x="16432" y="0"/>
                  <a:pt x="36703" y="0"/>
                </a:cubicBezTo>
                <a:close/>
              </a:path>
            </a:pathLst>
          </a:cu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468943" y="159996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D47A1">
              <a:alpha val="3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578412" y="1733294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40312" y="1695162"/>
            <a:ext cx="60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68943" y="220937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D47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7556" y="2171333"/>
            <a:ext cx="3133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Les étudiants utilisent beaucoup leur téléphone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68943" y="274278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D47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97556" y="2704733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Besoin de recharge toute la journée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20849" y="1409477"/>
            <a:ext cx="3685493" cy="2105025"/>
          </a:xfrm>
          <a:custGeom>
            <a:avLst/>
            <a:gdLst/>
            <a:ahLst/>
            <a:cxnLst/>
            <a:rect l="l" t="t" r="r" b="b"/>
            <a:pathLst>
              <a:path w="3685493" h="2105025">
                <a:moveTo>
                  <a:pt x="36703" y="0"/>
                </a:moveTo>
                <a:lnTo>
                  <a:pt x="3533140" y="0"/>
                </a:lnTo>
                <a:cubicBezTo>
                  <a:pt x="3617252" y="0"/>
                  <a:pt x="3685540" y="68288"/>
                  <a:pt x="3685540" y="152400"/>
                </a:cubicBezTo>
                <a:lnTo>
                  <a:pt x="3685540" y="1952625"/>
                </a:lnTo>
                <a:cubicBezTo>
                  <a:pt x="3685540" y="2036737"/>
                  <a:pt x="3617252" y="2105025"/>
                  <a:pt x="3533140" y="2105025"/>
                </a:cubicBezTo>
                <a:lnTo>
                  <a:pt x="36703" y="2105025"/>
                </a:lnTo>
                <a:cubicBezTo>
                  <a:pt x="16432" y="2105025"/>
                  <a:pt x="0" y="2088593"/>
                  <a:pt x="0" y="2068322"/>
                </a:cubicBezTo>
                <a:lnTo>
                  <a:pt x="0" y="36703"/>
                </a:lnTo>
                <a:cubicBezTo>
                  <a:pt x="0" y="16432"/>
                  <a:pt x="16432" y="0"/>
                  <a:pt x="36703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8120849" y="1409477"/>
            <a:ext cx="36736" cy="2105025"/>
          </a:xfrm>
          <a:custGeom>
            <a:avLst/>
            <a:gdLst/>
            <a:ahLst/>
            <a:cxnLst/>
            <a:rect l="l" t="t" r="r" b="b"/>
            <a:pathLst>
              <a:path w="36736" h="2105025">
                <a:moveTo>
                  <a:pt x="36703" y="0"/>
                </a:moveTo>
                <a:lnTo>
                  <a:pt x="36703" y="0"/>
                </a:lnTo>
                <a:lnTo>
                  <a:pt x="36703" y="2105025"/>
                </a:lnTo>
                <a:lnTo>
                  <a:pt x="36703" y="2105025"/>
                </a:lnTo>
                <a:cubicBezTo>
                  <a:pt x="16432" y="2105025"/>
                  <a:pt x="0" y="2088593"/>
                  <a:pt x="0" y="2068322"/>
                </a:cubicBezTo>
                <a:lnTo>
                  <a:pt x="0" y="36703"/>
                </a:lnTo>
                <a:cubicBezTo>
                  <a:pt x="0" y="16432"/>
                  <a:pt x="16432" y="0"/>
                  <a:pt x="36703" y="0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8329700" y="159996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5DF72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8462981" y="17332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5357" y="2493"/>
                </a:moveTo>
                <a:cubicBezTo>
                  <a:pt x="177738" y="223"/>
                  <a:pt x="181198" y="-595"/>
                  <a:pt x="184398" y="446"/>
                </a:cubicBezTo>
                <a:cubicBezTo>
                  <a:pt x="188044" y="1674"/>
                  <a:pt x="190500" y="5097"/>
                  <a:pt x="190500" y="8930"/>
                </a:cubicBezTo>
                <a:lnTo>
                  <a:pt x="190500" y="78470"/>
                </a:lnTo>
                <a:cubicBezTo>
                  <a:pt x="190500" y="127285"/>
                  <a:pt x="150279" y="166688"/>
                  <a:pt x="101650" y="166688"/>
                </a:cubicBezTo>
                <a:cubicBezTo>
                  <a:pt x="73000" y="166688"/>
                  <a:pt x="48295" y="148270"/>
                  <a:pt x="39328" y="122523"/>
                </a:cubicBezTo>
                <a:cubicBezTo>
                  <a:pt x="26157" y="133983"/>
                  <a:pt x="17859" y="150837"/>
                  <a:pt x="17859" y="169664"/>
                </a:cubicBezTo>
                <a:cubicBezTo>
                  <a:pt x="17859" y="174613"/>
                  <a:pt x="13878" y="178594"/>
                  <a:pt x="8930" y="178594"/>
                </a:cubicBezTo>
                <a:cubicBezTo>
                  <a:pt x="3981" y="178594"/>
                  <a:pt x="0" y="174613"/>
                  <a:pt x="0" y="169664"/>
                </a:cubicBezTo>
                <a:cubicBezTo>
                  <a:pt x="0" y="141796"/>
                  <a:pt x="14213" y="117239"/>
                  <a:pt x="35756" y="102803"/>
                </a:cubicBezTo>
                <a:cubicBezTo>
                  <a:pt x="48890" y="94022"/>
                  <a:pt x="64554" y="89297"/>
                  <a:pt x="80367" y="89297"/>
                </a:cubicBezTo>
                <a:lnTo>
                  <a:pt x="110133" y="89297"/>
                </a:lnTo>
                <a:cubicBezTo>
                  <a:pt x="115081" y="89297"/>
                  <a:pt x="119063" y="85316"/>
                  <a:pt x="119063" y="80367"/>
                </a:cubicBezTo>
                <a:cubicBezTo>
                  <a:pt x="119063" y="75419"/>
                  <a:pt x="115081" y="71438"/>
                  <a:pt x="110133" y="71438"/>
                </a:cubicBezTo>
                <a:lnTo>
                  <a:pt x="80367" y="71438"/>
                </a:lnTo>
                <a:cubicBezTo>
                  <a:pt x="65596" y="71438"/>
                  <a:pt x="51606" y="74712"/>
                  <a:pt x="39067" y="80553"/>
                </a:cubicBezTo>
                <a:cubicBezTo>
                  <a:pt x="47737" y="54508"/>
                  <a:pt x="72256" y="35719"/>
                  <a:pt x="101203" y="35719"/>
                </a:cubicBezTo>
                <a:cubicBezTo>
                  <a:pt x="125909" y="35719"/>
                  <a:pt x="144289" y="27496"/>
                  <a:pt x="156530" y="19348"/>
                </a:cubicBezTo>
                <a:cubicBezTo>
                  <a:pt x="163674" y="14585"/>
                  <a:pt x="169738" y="8892"/>
                  <a:pt x="175394" y="2493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8901069" y="1695162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Environnemental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29700" y="220937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58313" y="2171333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Énergie solaire = propre et gratuite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29700" y="25522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58313" y="2514167"/>
            <a:ext cx="3133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Moins de déchets de chargeurs bas de gamme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99335" y="3671339"/>
            <a:ext cx="3685493" cy="2105025"/>
          </a:xfrm>
          <a:custGeom>
            <a:avLst/>
            <a:gdLst/>
            <a:ahLst/>
            <a:cxnLst/>
            <a:rect l="l" t="t" r="r" b="b"/>
            <a:pathLst>
              <a:path w="3685493" h="2105025">
                <a:moveTo>
                  <a:pt x="36703" y="0"/>
                </a:moveTo>
                <a:lnTo>
                  <a:pt x="3533140" y="0"/>
                </a:lnTo>
                <a:cubicBezTo>
                  <a:pt x="3617252" y="0"/>
                  <a:pt x="3685540" y="68288"/>
                  <a:pt x="3685540" y="152400"/>
                </a:cubicBezTo>
                <a:lnTo>
                  <a:pt x="3685540" y="1952625"/>
                </a:lnTo>
                <a:cubicBezTo>
                  <a:pt x="3685540" y="2036737"/>
                  <a:pt x="3617252" y="2105025"/>
                  <a:pt x="3533140" y="2105025"/>
                </a:cubicBezTo>
                <a:lnTo>
                  <a:pt x="36703" y="2105025"/>
                </a:lnTo>
                <a:cubicBezTo>
                  <a:pt x="16432" y="2105025"/>
                  <a:pt x="0" y="2088593"/>
                  <a:pt x="0" y="2068322"/>
                </a:cubicBezTo>
                <a:lnTo>
                  <a:pt x="0" y="36703"/>
                </a:lnTo>
                <a:cubicBezTo>
                  <a:pt x="0" y="16432"/>
                  <a:pt x="16432" y="0"/>
                  <a:pt x="36703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99335" y="3671339"/>
            <a:ext cx="36736" cy="2105025"/>
          </a:xfrm>
          <a:custGeom>
            <a:avLst/>
            <a:gdLst/>
            <a:ahLst/>
            <a:cxnLst/>
            <a:rect l="l" t="t" r="r" b="b"/>
            <a:pathLst>
              <a:path w="36736" h="2105025">
                <a:moveTo>
                  <a:pt x="36703" y="0"/>
                </a:moveTo>
                <a:lnTo>
                  <a:pt x="36703" y="0"/>
                </a:lnTo>
                <a:lnTo>
                  <a:pt x="36703" y="2105025"/>
                </a:lnTo>
                <a:lnTo>
                  <a:pt x="36703" y="2105025"/>
                </a:lnTo>
                <a:cubicBezTo>
                  <a:pt x="16432" y="2105025"/>
                  <a:pt x="0" y="2088593"/>
                  <a:pt x="0" y="2068322"/>
                </a:cubicBezTo>
                <a:lnTo>
                  <a:pt x="0" y="36703"/>
                </a:lnTo>
                <a:cubicBezTo>
                  <a:pt x="0" y="16432"/>
                  <a:pt x="16432" y="0"/>
                  <a:pt x="36703" y="0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08186" y="38618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C9A24A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741467" y="39951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1179555" y="3957024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Économique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8186" y="447123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6799" y="4433190"/>
            <a:ext cx="3133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Les étudiants cherchent des solutions pas chères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8186" y="500464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2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6799" y="4966595"/>
            <a:ext cx="3133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Marché des accessoires téléphone en croissance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260092" y="3671339"/>
            <a:ext cx="3685493" cy="2105025"/>
          </a:xfrm>
          <a:custGeom>
            <a:avLst/>
            <a:gdLst/>
            <a:ahLst/>
            <a:cxnLst/>
            <a:rect l="l" t="t" r="r" b="b"/>
            <a:pathLst>
              <a:path w="3685493" h="2105025">
                <a:moveTo>
                  <a:pt x="36703" y="0"/>
                </a:moveTo>
                <a:lnTo>
                  <a:pt x="3533140" y="0"/>
                </a:lnTo>
                <a:cubicBezTo>
                  <a:pt x="3617252" y="0"/>
                  <a:pt x="3685540" y="68288"/>
                  <a:pt x="3685540" y="152400"/>
                </a:cubicBezTo>
                <a:lnTo>
                  <a:pt x="3685540" y="1952625"/>
                </a:lnTo>
                <a:cubicBezTo>
                  <a:pt x="3685540" y="2036737"/>
                  <a:pt x="3617252" y="2105025"/>
                  <a:pt x="3533140" y="2105025"/>
                </a:cubicBezTo>
                <a:lnTo>
                  <a:pt x="36703" y="2105025"/>
                </a:lnTo>
                <a:cubicBezTo>
                  <a:pt x="16432" y="2105025"/>
                  <a:pt x="0" y="2088593"/>
                  <a:pt x="0" y="2068322"/>
                </a:cubicBezTo>
                <a:lnTo>
                  <a:pt x="0" y="36703"/>
                </a:lnTo>
                <a:cubicBezTo>
                  <a:pt x="0" y="16432"/>
                  <a:pt x="16432" y="0"/>
                  <a:pt x="36703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4260092" y="3671339"/>
            <a:ext cx="36736" cy="2105025"/>
          </a:xfrm>
          <a:custGeom>
            <a:avLst/>
            <a:gdLst/>
            <a:ahLst/>
            <a:cxnLst/>
            <a:rect l="l" t="t" r="r" b="b"/>
            <a:pathLst>
              <a:path w="36736" h="2105025">
                <a:moveTo>
                  <a:pt x="36703" y="0"/>
                </a:moveTo>
                <a:lnTo>
                  <a:pt x="36703" y="0"/>
                </a:lnTo>
                <a:lnTo>
                  <a:pt x="36703" y="2105025"/>
                </a:lnTo>
                <a:lnTo>
                  <a:pt x="36703" y="2105025"/>
                </a:lnTo>
                <a:cubicBezTo>
                  <a:pt x="16432" y="2105025"/>
                  <a:pt x="0" y="2088593"/>
                  <a:pt x="0" y="2068322"/>
                </a:cubicBezTo>
                <a:lnTo>
                  <a:pt x="0" y="36703"/>
                </a:lnTo>
                <a:cubicBezTo>
                  <a:pt x="0" y="16432"/>
                  <a:pt x="16432" y="0"/>
                  <a:pt x="36703" y="0"/>
                </a:cubicBezTo>
                <a:close/>
              </a:path>
            </a:pathLst>
          </a:cu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468943" y="38618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D47A1">
              <a:alpha val="30196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4602224" y="39951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040312" y="3957024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Technologique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68943" y="447123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D47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697556" y="4433190"/>
            <a:ext cx="3133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USB-C et recharge rapide deviennent standards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468943" y="500464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D47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697556" y="4966595"/>
            <a:ext cx="3133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Technologie solaire de plus en plus accessible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20849" y="3671339"/>
            <a:ext cx="3685493" cy="2105025"/>
          </a:xfrm>
          <a:custGeom>
            <a:avLst/>
            <a:gdLst/>
            <a:ahLst/>
            <a:cxnLst/>
            <a:rect l="l" t="t" r="r" b="b"/>
            <a:pathLst>
              <a:path w="3685493" h="2105025">
                <a:moveTo>
                  <a:pt x="36703" y="0"/>
                </a:moveTo>
                <a:lnTo>
                  <a:pt x="3533140" y="0"/>
                </a:lnTo>
                <a:cubicBezTo>
                  <a:pt x="3617252" y="0"/>
                  <a:pt x="3685540" y="68288"/>
                  <a:pt x="3685540" y="152400"/>
                </a:cubicBezTo>
                <a:lnTo>
                  <a:pt x="3685540" y="1952625"/>
                </a:lnTo>
                <a:cubicBezTo>
                  <a:pt x="3685540" y="2036737"/>
                  <a:pt x="3617252" y="2105025"/>
                  <a:pt x="3533140" y="2105025"/>
                </a:cubicBezTo>
                <a:lnTo>
                  <a:pt x="36703" y="2105025"/>
                </a:lnTo>
                <a:cubicBezTo>
                  <a:pt x="16432" y="2105025"/>
                  <a:pt x="0" y="2088593"/>
                  <a:pt x="0" y="2068322"/>
                </a:cubicBezTo>
                <a:lnTo>
                  <a:pt x="0" y="36703"/>
                </a:lnTo>
                <a:cubicBezTo>
                  <a:pt x="0" y="16432"/>
                  <a:pt x="16432" y="0"/>
                  <a:pt x="36703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8120849" y="3671339"/>
            <a:ext cx="36736" cy="2105025"/>
          </a:xfrm>
          <a:custGeom>
            <a:avLst/>
            <a:gdLst/>
            <a:ahLst/>
            <a:cxnLst/>
            <a:rect l="l" t="t" r="r" b="b"/>
            <a:pathLst>
              <a:path w="36736" h="2105025">
                <a:moveTo>
                  <a:pt x="36703" y="0"/>
                </a:moveTo>
                <a:lnTo>
                  <a:pt x="36703" y="0"/>
                </a:lnTo>
                <a:lnTo>
                  <a:pt x="36703" y="2105025"/>
                </a:lnTo>
                <a:lnTo>
                  <a:pt x="36703" y="2105025"/>
                </a:lnTo>
                <a:cubicBezTo>
                  <a:pt x="16432" y="2105025"/>
                  <a:pt x="0" y="2088593"/>
                  <a:pt x="0" y="2068322"/>
                </a:cubicBezTo>
                <a:lnTo>
                  <a:pt x="0" y="36703"/>
                </a:lnTo>
                <a:cubicBezTo>
                  <a:pt x="0" y="16432"/>
                  <a:pt x="16432" y="0"/>
                  <a:pt x="36703" y="0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8329700" y="38618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C27AFF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8439169" y="399515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8901069" y="3957024"/>
            <a:ext cx="55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Légal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29700" y="447123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558313" y="443319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Respect des normes de sécurité électrique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29700" y="481407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558313" y="4776029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Produits certifiés et sécurisés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83591" y="5935820"/>
            <a:ext cx="11425723" cy="538648"/>
          </a:xfrm>
          <a:prstGeom prst="roundRect">
            <a:avLst>
              <a:gd name="adj" fmla="val 21220"/>
            </a:avLst>
          </a:prstGeom>
          <a:gradFill flip="none" rotWithShape="1">
            <a:gsLst>
              <a:gs pos="0">
                <a:srgbClr val="C9A24A">
                  <a:alpha val="20000"/>
                </a:srgbClr>
              </a:gs>
              <a:gs pos="100000">
                <a:srgbClr val="0D47A1">
                  <a:alpha val="20000"/>
                </a:srgbClr>
              </a:gs>
            </a:gsLst>
            <a:lin ang="0" scaled="1"/>
          </a:gra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2131835" y="613278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748119" y="6090800"/>
            <a:ext cx="1094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 :</a:t>
            </a: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L'environnement est favorable au développement de Solaris Lux sur le campus de l'ISTA Témara.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republic.brightspotcdn.com/27f5460d3f912372308f5fd0670ac20a01d6d3d9"/>
          <p:cNvPicPr>
            <a:picLocks noChangeAspect="1"/>
          </p:cNvPicPr>
          <p:nvPr/>
        </p:nvPicPr>
        <p:blipFill>
          <a:blip r:embed="rId3">
            <a:alphaModFix amt="25000"/>
          </a:blip>
          <a:srcRect l="3651" r="365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D47A1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5486304" y="185151"/>
            <a:ext cx="1219200" cy="57150"/>
          </a:xfrm>
          <a:prstGeom prst="roundRect">
            <a:avLst>
              <a:gd name="adj" fmla="val 0"/>
            </a:avLst>
          </a:pr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1657291" y="547018"/>
            <a:ext cx="8877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 de votre attention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71591" y="1461390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Solaris Lux n'est pas seulement un projet, c'est une solution réelle pour améliorer la recharge des étudiants sur l'ISTA Témara.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90696" y="2509084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Nous croyons en un avenir où l'énergie solaire et l'innovation rendent la vie plus simple et plus accessible.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08412" y="3892573"/>
            <a:ext cx="2557948" cy="1110148"/>
          </a:xfrm>
          <a:prstGeom prst="roundRect">
            <a:avLst>
              <a:gd name="adj" fmla="val 13728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649141" y="4123730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Contactez-nous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34853" y="4466565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Solaris Lux Team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1733" y="3892573"/>
            <a:ext cx="2710348" cy="1110148"/>
          </a:xfrm>
          <a:prstGeom prst="roundRect">
            <a:avLst>
              <a:gd name="adj" fmla="val 13728"/>
            </a:avLst>
          </a:prstGeom>
          <a:solidFill>
            <a:srgbClr val="1E293B">
              <a:alpha val="70196"/>
            </a:srgbClr>
          </a:solidFill>
          <a:ln w="6997">
            <a:solidFill>
              <a:srgbClr val="0D47A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512462" y="4123730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98174" y="4466565"/>
            <a:ext cx="205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ISTA Témara 2025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39369" y="5388723"/>
            <a:ext cx="5710723" cy="671998"/>
          </a:xfrm>
          <a:prstGeom prst="roundRect">
            <a:avLst>
              <a:gd name="adj" fmla="val 22679"/>
            </a:avLst>
          </a:prstGeom>
          <a:gradFill flip="none" rotWithShape="1">
            <a:gsLst>
              <a:gs pos="0">
                <a:srgbClr val="C9A24A">
                  <a:alpha val="20000"/>
                </a:srgbClr>
              </a:gs>
              <a:gs pos="100000">
                <a:srgbClr val="0D47A1">
                  <a:alpha val="20000"/>
                </a:srgbClr>
              </a:gs>
            </a:gsLst>
            <a:lin ang="0" scaled="1"/>
          </a:gradFill>
          <a:ln w="6997">
            <a:solidFill>
              <a:srgbClr val="C9A2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3638438" y="5581836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67977" y="17859"/>
                </a:moveTo>
                <a:cubicBezTo>
                  <a:pt x="51234" y="17859"/>
                  <a:pt x="36723" y="29468"/>
                  <a:pt x="33096" y="45820"/>
                </a:cubicBezTo>
                <a:lnTo>
                  <a:pt x="5358" y="170836"/>
                </a:lnTo>
                <a:cubicBezTo>
                  <a:pt x="391" y="193160"/>
                  <a:pt x="17357" y="214313"/>
                  <a:pt x="40184" y="214313"/>
                </a:cubicBezTo>
                <a:lnTo>
                  <a:pt x="142931" y="214313"/>
                </a:lnTo>
                <a:lnTo>
                  <a:pt x="142931" y="250031"/>
                </a:lnTo>
                <a:lnTo>
                  <a:pt x="107212" y="250031"/>
                </a:lnTo>
                <a:cubicBezTo>
                  <a:pt x="97334" y="250031"/>
                  <a:pt x="89353" y="258012"/>
                  <a:pt x="89353" y="267891"/>
                </a:cubicBezTo>
                <a:cubicBezTo>
                  <a:pt x="89353" y="277769"/>
                  <a:pt x="97334" y="285750"/>
                  <a:pt x="107212" y="285750"/>
                </a:cubicBezTo>
                <a:lnTo>
                  <a:pt x="214368" y="285750"/>
                </a:lnTo>
                <a:cubicBezTo>
                  <a:pt x="224247" y="285750"/>
                  <a:pt x="232228" y="277769"/>
                  <a:pt x="232228" y="267891"/>
                </a:cubicBezTo>
                <a:cubicBezTo>
                  <a:pt x="232228" y="258012"/>
                  <a:pt x="224247" y="250031"/>
                  <a:pt x="214368" y="250031"/>
                </a:cubicBezTo>
                <a:lnTo>
                  <a:pt x="178650" y="250031"/>
                </a:lnTo>
                <a:lnTo>
                  <a:pt x="178650" y="214313"/>
                </a:lnTo>
                <a:lnTo>
                  <a:pt x="281397" y="214313"/>
                </a:lnTo>
                <a:cubicBezTo>
                  <a:pt x="304223" y="214313"/>
                  <a:pt x="321246" y="193160"/>
                  <a:pt x="316278" y="170836"/>
                </a:cubicBezTo>
                <a:lnTo>
                  <a:pt x="288485" y="45820"/>
                </a:lnTo>
                <a:cubicBezTo>
                  <a:pt x="284857" y="29468"/>
                  <a:pt x="270402" y="17859"/>
                  <a:pt x="253659" y="17859"/>
                </a:cubicBezTo>
                <a:lnTo>
                  <a:pt x="67977" y="17859"/>
                </a:lnTo>
                <a:close/>
                <a:moveTo>
                  <a:pt x="137071" y="53578"/>
                </a:moveTo>
                <a:lnTo>
                  <a:pt x="184621" y="53578"/>
                </a:lnTo>
                <a:lnTo>
                  <a:pt x="188695" y="102691"/>
                </a:lnTo>
                <a:lnTo>
                  <a:pt x="132997" y="102691"/>
                </a:lnTo>
                <a:lnTo>
                  <a:pt x="137071" y="53578"/>
                </a:lnTo>
                <a:close/>
                <a:moveTo>
                  <a:pt x="106096" y="102691"/>
                </a:moveTo>
                <a:lnTo>
                  <a:pt x="57094" y="102691"/>
                </a:lnTo>
                <a:lnTo>
                  <a:pt x="68033" y="53578"/>
                </a:lnTo>
                <a:lnTo>
                  <a:pt x="110226" y="53578"/>
                </a:lnTo>
                <a:lnTo>
                  <a:pt x="106152" y="102691"/>
                </a:lnTo>
                <a:close/>
                <a:moveTo>
                  <a:pt x="51122" y="129480"/>
                </a:moveTo>
                <a:lnTo>
                  <a:pt x="103863" y="129480"/>
                </a:lnTo>
                <a:lnTo>
                  <a:pt x="99789" y="178594"/>
                </a:lnTo>
                <a:lnTo>
                  <a:pt x="40239" y="178594"/>
                </a:lnTo>
                <a:lnTo>
                  <a:pt x="51178" y="129480"/>
                </a:lnTo>
                <a:close/>
                <a:moveTo>
                  <a:pt x="130708" y="129480"/>
                </a:moveTo>
                <a:lnTo>
                  <a:pt x="190872" y="129480"/>
                </a:lnTo>
                <a:lnTo>
                  <a:pt x="194946" y="178594"/>
                </a:lnTo>
                <a:lnTo>
                  <a:pt x="126578" y="178594"/>
                </a:lnTo>
                <a:lnTo>
                  <a:pt x="130652" y="129480"/>
                </a:lnTo>
                <a:close/>
                <a:moveTo>
                  <a:pt x="217773" y="129480"/>
                </a:moveTo>
                <a:lnTo>
                  <a:pt x="270514" y="129480"/>
                </a:lnTo>
                <a:lnTo>
                  <a:pt x="281453" y="178594"/>
                </a:lnTo>
                <a:lnTo>
                  <a:pt x="221903" y="178594"/>
                </a:lnTo>
                <a:lnTo>
                  <a:pt x="217829" y="129480"/>
                </a:lnTo>
                <a:close/>
                <a:moveTo>
                  <a:pt x="264542" y="102691"/>
                </a:moveTo>
                <a:lnTo>
                  <a:pt x="215540" y="102691"/>
                </a:lnTo>
                <a:lnTo>
                  <a:pt x="211466" y="53578"/>
                </a:lnTo>
                <a:lnTo>
                  <a:pt x="253659" y="53578"/>
                </a:lnTo>
                <a:lnTo>
                  <a:pt x="264598" y="102691"/>
                </a:lnTo>
                <a:close/>
              </a:path>
            </a:pathLst>
          </a:cu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084877" y="5591342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Ensemble, illuminons l'avenir avec l'énergie solaire.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96253" y="6501454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C9A2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486602" y="6444295"/>
            <a:ext cx="3448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4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Solaris Lux — L'énergie solaire à portée de main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1078</Words>
  <Application>Microsoft Office PowerPoint</Application>
  <PresentationFormat>Grand écran</PresentationFormat>
  <Paragraphs>334</Paragraphs>
  <Slides>17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4" baseType="lpstr">
      <vt:lpstr>Liter</vt:lpstr>
      <vt:lpstr>Arial</vt:lpstr>
      <vt:lpstr>微软雅黑</vt:lpstr>
      <vt:lpstr>Open Sans</vt:lpstr>
      <vt:lpstr>MiSans</vt:lpstr>
      <vt:lpstr>Open Sans Bold</vt:lpstr>
      <vt:lpstr>Custom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Solaris Lux — Présentation Projet</dc:title>
  <dc:subject>Solaris Lux — Présentation Projet</dc:subject>
  <dc:creator>Kimi</dc:creator>
  <cp:lastModifiedBy>ZHAR YOUSSEF</cp:lastModifiedBy>
  <cp:revision>3</cp:revision>
  <dcterms:created xsi:type="dcterms:W3CDTF">2026-04-22T22:44:36Z</dcterms:created>
  <dcterms:modified xsi:type="dcterms:W3CDTF">2026-04-23T23:00:09Z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{"Label":"Solaris Lux — Présentation Projet","ContentProducer":"001191110108MACG2KBH8F10000","ProduceID":"19db75c7-27d2-88ad-8000-00005a828725","ReservedCode1":"","ContentPropagator":"001191110108MACG2KBH8F20000","PropagateID":"19db75c7-27d2-88ad-8000-00005a828725","ReservedCode2":""}</vt:lpwstr>
  </property>
</Properties>
</file>